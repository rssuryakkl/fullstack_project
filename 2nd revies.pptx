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4"/>
  </p:notesMasterIdLst>
  <p:sldIdLst>
    <p:sldId id="256" r:id="rId3"/>
    <p:sldId id="257" r:id="rId5"/>
    <p:sldId id="278" r:id="rId6"/>
    <p:sldId id="280" r:id="rId7"/>
    <p:sldId id="260" r:id="rId8"/>
    <p:sldId id="261" r:id="rId9"/>
    <p:sldId id="262" r:id="rId10"/>
    <p:sldId id="263" r:id="rId11"/>
    <p:sldId id="264" r:id="rId12"/>
    <p:sldId id="265" r:id="rId13"/>
    <p:sldId id="266" r:id="rId14"/>
    <p:sldId id="267" r:id="rId15"/>
    <p:sldId id="268" r:id="rId16"/>
    <p:sldId id="272" r:id="rId17"/>
    <p:sldId id="283" r:id="rId18"/>
    <p:sldId id="282"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D136F4F-A28D-4FD5-A047-323B083E55CD}"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Style>
        <a:tcBdr/>
        <a:fill>
          <a:solidFill>
            <a:srgbClr val="D0DEEF"/>
          </a:solidFill>
        </a:fill>
      </a:tcStyle>
    </a:band1H>
    <a:band2H>
      <a:tcStyle>
        <a:tcBdr/>
      </a:tcStyle>
    </a:band2H>
    <a:band1V>
      <a:tcStyle>
        <a:tcBdr/>
        <a:fill>
          <a:solidFill>
            <a:srgbClr val="D0DEEF"/>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68" d="100"/>
          <a:sy n="68" d="100"/>
        </p:scale>
        <p:origin x="5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0" name="Google Shape;16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9" name="Google Shape;1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8" name="Google Shape;17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5"/>
        <p:cNvGrpSpPr/>
        <p:nvPr/>
      </p:nvGrpSpPr>
      <p:grpSpPr>
        <a:xfrm>
          <a:off x="0" y="0"/>
          <a:ext cx="0" cy="0"/>
          <a:chOff x="0" y="0"/>
          <a:chExt cx="0" cy="0"/>
        </a:xfrm>
      </p:grpSpPr>
      <p:sp>
        <p:nvSpPr>
          <p:cNvPr id="186" name="Google Shape;18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7" name="Google Shape;18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6" name="Google Shape;19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0"/>
        <p:cNvGrpSpPr/>
        <p:nvPr/>
      </p:nvGrpSpPr>
      <p:grpSpPr>
        <a:xfrm>
          <a:off x="0" y="0"/>
          <a:ext cx="0" cy="0"/>
          <a:chOff x="0" y="0"/>
          <a:chExt cx="0" cy="0"/>
        </a:xfrm>
      </p:grpSpPr>
      <p:sp>
        <p:nvSpPr>
          <p:cNvPr id="231" name="Google Shape;23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2" name="Google Shape;23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8" name="Google Shape;25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a:spLocks noGrp="1"/>
          </p:cNvSpPr>
          <p:nvPr>
            <p:ph type="pic" idx="2"/>
          </p:nvPr>
        </p:nvSpPr>
        <p:spPr>
          <a:xfrm>
            <a:off x="5183188" y="987425"/>
            <a:ext cx="6172200" cy="4873625"/>
          </a:xfrm>
          <a:prstGeom prst="rect">
            <a:avLst/>
          </a:prstGeom>
          <a:noFill/>
          <a:ln>
            <a:noFill/>
          </a:ln>
        </p:spPr>
      </p:sp>
      <p:sp>
        <p:nvSpPr>
          <p:cNvPr id="68" name="Google Shape;68;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hyperlink" Target="https://drive.google.com/file/d/1T-kuB3iLZNqTTlPDRvG4vjNPTMKj3_vL/view?usp=sharing" TargetMode="External"/><Relationship Id="rId2" Type="http://schemas.openxmlformats.org/officeDocument/2006/relationships/hyperlink" Target="https://drive.google.com/file/d/1_Hzr9sczd-riKnhiAl0_0N0phZqXhyNM/view?usp=sharing" TargetMode="Externa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160;https://drive.google.com/file/d/1UDSAhdMYvpQBcpWTX_PhzeQMmn1I7We0/view?usp=drive_link&#13;" TargetMode="External"/><Relationship Id="rId5" Type="http://schemas.openxmlformats.org/officeDocument/2006/relationships/hyperlink" Target="&#160;https://drive.google.com/file/d/18YyiG87zAGGTDbISrZJb3xwDSg7v5wjf/view?usp=drive_link" TargetMode="External"/><Relationship Id="rId4" Type="http://schemas.openxmlformats.org/officeDocument/2006/relationships/hyperlink" Target="&#160;https://drive.google.com/file/d/18YyiG87zAGGTDbISrZJb3xwDSg7v5wjf/view?usp=drive_link&#13;" TargetMode="External"/><Relationship Id="rId3" Type="http://schemas.openxmlformats.org/officeDocument/2006/relationships/hyperlink" Target="https://drive.google.com/file/d/1mK0RqgjjTiLIWB7SUcU5EFy5t2x7Fsaj/view?usp=sharing" TargetMode="External"/><Relationship Id="rId2" Type="http://schemas.openxmlformats.org/officeDocument/2006/relationships/hyperlink" Target="https://drive.google.com/file/d/1xD1EaaGDGHawb1ND1YAnMq-W7yXaotoV/view?usp=sharing" TargetMode="Externa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hyperlink" Target="batteryinfo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697957" y="1236854"/>
            <a:ext cx="9144000" cy="10074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Font typeface="Cambria" panose="02040503050406030204"/>
              <a:buNone/>
            </a:pPr>
            <a:r>
              <a:rPr lang="en-US" sz="1800" b="1" dirty="0">
                <a:latin typeface="Cambria" panose="02040503050406030204"/>
                <a:ea typeface="Cambria" panose="02040503050406030204"/>
                <a:cs typeface="Cambria" panose="02040503050406030204"/>
                <a:sym typeface="Cambria" panose="02040503050406030204"/>
              </a:rPr>
              <a:t>Academic Year 2024 - 25 </a:t>
            </a:r>
            <a:br>
              <a:rPr lang="en-US" sz="1800" b="1" dirty="0">
                <a:latin typeface="Cambria" panose="02040503050406030204"/>
                <a:ea typeface="Cambria" panose="02040503050406030204"/>
                <a:cs typeface="Cambria" panose="02040503050406030204"/>
                <a:sym typeface="Cambria" panose="02040503050406030204"/>
              </a:rPr>
            </a:br>
            <a:r>
              <a:rPr lang="en-US" sz="1800" b="1" dirty="0" smtClean="0">
                <a:solidFill>
                  <a:srgbClr val="C00000"/>
                </a:solidFill>
                <a:latin typeface="Cambria" panose="02040503050406030204"/>
                <a:ea typeface="Cambria" panose="02040503050406030204"/>
                <a:cs typeface="Cambria" panose="02040503050406030204"/>
                <a:sym typeface="Cambria" panose="02040503050406030204"/>
              </a:rPr>
              <a:t>S6 MINI </a:t>
            </a:r>
            <a:r>
              <a:rPr lang="en-US" sz="1800" b="1" dirty="0">
                <a:solidFill>
                  <a:srgbClr val="C00000"/>
                </a:solidFill>
                <a:latin typeface="Cambria" panose="02040503050406030204"/>
                <a:ea typeface="Cambria" panose="02040503050406030204"/>
                <a:cs typeface="Cambria" panose="02040503050406030204"/>
                <a:sym typeface="Cambria" panose="02040503050406030204"/>
              </a:rPr>
              <a:t>PROJECT - </a:t>
            </a:r>
            <a:r>
              <a:rPr lang="en-US" sz="1800" b="1" dirty="0" smtClean="0">
                <a:solidFill>
                  <a:srgbClr val="C00000"/>
                </a:solidFill>
                <a:latin typeface="Cambria" panose="02040503050406030204"/>
                <a:ea typeface="Cambria" panose="02040503050406030204"/>
                <a:cs typeface="Cambria" panose="02040503050406030204"/>
                <a:sym typeface="Cambria" panose="02040503050406030204"/>
              </a:rPr>
              <a:t>II</a:t>
            </a:r>
            <a:br>
              <a:rPr lang="en-US" sz="1800" b="1" dirty="0">
                <a:solidFill>
                  <a:srgbClr val="C00000"/>
                </a:solidFill>
                <a:latin typeface="Cambria" panose="02040503050406030204"/>
                <a:ea typeface="Cambria" panose="02040503050406030204"/>
                <a:cs typeface="Cambria" panose="02040503050406030204"/>
                <a:sym typeface="Cambria" panose="02040503050406030204"/>
              </a:rPr>
            </a:br>
            <a:r>
              <a:rPr lang="en-US" sz="1800" b="1" dirty="0">
                <a:latin typeface="Cambria" panose="02040503050406030204"/>
                <a:ea typeface="Cambria" panose="02040503050406030204"/>
                <a:cs typeface="Cambria" panose="02040503050406030204"/>
                <a:sym typeface="Cambria" panose="02040503050406030204"/>
              </a:rPr>
              <a:t>Second Review </a:t>
            </a:r>
            <a:endParaRPr sz="1800" b="1" dirty="0">
              <a:latin typeface="Cambria" panose="02040503050406030204"/>
              <a:ea typeface="Cambria" panose="02040503050406030204"/>
              <a:cs typeface="Cambria" panose="02040503050406030204"/>
              <a:sym typeface="Cambria" panose="02040503050406030204"/>
            </a:endParaRPr>
          </a:p>
        </p:txBody>
      </p:sp>
      <p:sp>
        <p:nvSpPr>
          <p:cNvPr id="89" name="Google Shape;89;p1"/>
          <p:cNvSpPr txBox="1">
            <a:spLocks noGrp="1"/>
          </p:cNvSpPr>
          <p:nvPr>
            <p:ph type="subTitle" idx="1"/>
          </p:nvPr>
        </p:nvSpPr>
        <p:spPr>
          <a:xfrm>
            <a:off x="1697957" y="2272650"/>
            <a:ext cx="9144000" cy="12765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385623"/>
              </a:buClr>
              <a:buSzPts val="2400"/>
              <a:buNone/>
            </a:pPr>
            <a:r>
              <a:rPr lang="en-US" sz="1800" b="1" dirty="0">
                <a:solidFill>
                  <a:srgbClr val="385623"/>
                </a:solidFill>
                <a:latin typeface="Cambria" panose="02040503050406030204"/>
                <a:ea typeface="Cambria" panose="02040503050406030204"/>
                <a:cs typeface="Cambria" panose="02040503050406030204"/>
                <a:sym typeface="Cambria" panose="02040503050406030204"/>
              </a:rPr>
              <a:t>PROJECT TITLE</a:t>
            </a:r>
            <a:endParaRPr sz="1800" b="1" dirty="0">
              <a:solidFill>
                <a:srgbClr val="385623"/>
              </a:solidFill>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0"/>
              </a:spcBef>
              <a:spcAft>
                <a:spcPts val="0"/>
              </a:spcAft>
              <a:buClr>
                <a:srgbClr val="385623"/>
              </a:buClr>
              <a:buSzPts val="2400"/>
              <a:buNone/>
            </a:pPr>
            <a:endParaRPr sz="1800" b="1" dirty="0" smtClean="0">
              <a:solidFill>
                <a:srgbClr val="385623"/>
              </a:solidFill>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1000"/>
              </a:spcBef>
              <a:spcAft>
                <a:spcPts val="0"/>
              </a:spcAft>
              <a:buClr>
                <a:srgbClr val="002060"/>
              </a:buClr>
              <a:buSzPts val="2400"/>
              <a:buNone/>
            </a:pPr>
            <a:r>
              <a:rPr lang="en-US" sz="1800" b="1" dirty="0" smtClean="0">
                <a:solidFill>
                  <a:srgbClr val="002060"/>
                </a:solidFill>
                <a:latin typeface="Cambria" panose="02040503050406030204"/>
                <a:ea typeface="Cambria" panose="02040503050406030204"/>
                <a:cs typeface="Cambria" panose="02040503050406030204"/>
                <a:sym typeface="Cambria" panose="02040503050406030204"/>
              </a:rPr>
              <a:t> BUS RESERVATION SYSTEM</a:t>
            </a:r>
            <a:endParaRPr lang="en-US" sz="1800" b="1" dirty="0">
              <a:solidFill>
                <a:srgbClr val="7030A0"/>
              </a:solidFill>
              <a:latin typeface="Cambria" panose="02040503050406030204"/>
              <a:ea typeface="Cambria" panose="02040503050406030204"/>
              <a:cs typeface="Cambria" panose="02040503050406030204"/>
              <a:sym typeface="Cambria" panose="02040503050406030204"/>
            </a:endParaRPr>
          </a:p>
          <a:p>
            <a:pPr marL="0" lvl="0" indent="0" algn="ctr" rtl="0">
              <a:lnSpc>
                <a:spcPct val="90000"/>
              </a:lnSpc>
              <a:spcBef>
                <a:spcPts val="1000"/>
              </a:spcBef>
              <a:spcAft>
                <a:spcPts val="0"/>
              </a:spcAft>
              <a:buClr>
                <a:schemeClr val="dk1"/>
              </a:buClr>
              <a:buSzPts val="2400"/>
              <a:buNone/>
            </a:pPr>
            <a:endParaRPr sz="1800" b="1" dirty="0">
              <a:latin typeface="Cambria" panose="02040503050406030204"/>
              <a:ea typeface="Cambria" panose="02040503050406030204"/>
              <a:cs typeface="Cambria" panose="02040503050406030204"/>
              <a:sym typeface="Cambria" panose="02040503050406030204"/>
            </a:endParaRPr>
          </a:p>
        </p:txBody>
      </p:sp>
      <p:pic>
        <p:nvPicPr>
          <p:cNvPr id="90" name="Google Shape;90;p1"/>
          <p:cNvPicPr preferRelativeResize="0"/>
          <p:nvPr/>
        </p:nvPicPr>
        <p:blipFill rotWithShape="1">
          <a:blip r:embed="rId1"/>
          <a:srcRect/>
          <a:stretch>
            <a:fillRect/>
          </a:stretch>
        </p:blipFill>
        <p:spPr>
          <a:xfrm>
            <a:off x="1968260" y="17000"/>
            <a:ext cx="7675420" cy="1308626"/>
          </a:xfrm>
          <a:prstGeom prst="rect">
            <a:avLst/>
          </a:prstGeom>
          <a:noFill/>
          <a:ln>
            <a:noFill/>
          </a:ln>
        </p:spPr>
      </p:pic>
      <p:sp>
        <p:nvSpPr>
          <p:cNvPr id="92" name="Google Shape;92;p1"/>
          <p:cNvSpPr txBox="1"/>
          <p:nvPr/>
        </p:nvSpPr>
        <p:spPr>
          <a:xfrm>
            <a:off x="1446298" y="3994171"/>
            <a:ext cx="293730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rgbClr val="2F5496"/>
                </a:solidFill>
                <a:latin typeface="Cambria" panose="02040503050406030204"/>
                <a:ea typeface="Cambria" panose="02040503050406030204"/>
                <a:cs typeface="Cambria" panose="02040503050406030204"/>
                <a:sym typeface="Cambria" panose="02040503050406030204"/>
              </a:rPr>
              <a:t>BIP PROJECT ID</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lvl="0" algn="ctr">
              <a:buSzPts val="1800"/>
            </a:pPr>
            <a:r>
              <a:rPr lang="en-US" b="1" dirty="0">
                <a:solidFill>
                  <a:srgbClr val="C00000"/>
                </a:solidFill>
                <a:latin typeface="Cambria" panose="02040503050406030204" pitchFamily="18" charset="0"/>
                <a:ea typeface="Cambria" panose="02040503050406030204" pitchFamily="18" charset="0"/>
              </a:rPr>
              <a:t>26S6MIN401</a:t>
            </a:r>
            <a:endParaRPr sz="1800" b="1" i="0" u="none" strike="noStrike" cap="none" dirty="0">
              <a:solidFill>
                <a:srgbClr val="C00000"/>
              </a:solidFill>
              <a:latin typeface="Cambria" panose="02040503050406030204" pitchFamily="18" charset="0"/>
              <a:ea typeface="Cambria" panose="02040503050406030204" pitchFamily="18" charset="0"/>
              <a:cs typeface="Cambria" panose="02040503050406030204"/>
              <a:sym typeface="Cambria" panose="02040503050406030204"/>
            </a:endParaRPr>
          </a:p>
        </p:txBody>
      </p:sp>
      <p:sp>
        <p:nvSpPr>
          <p:cNvPr id="93" name="Google Shape;93;p1"/>
          <p:cNvSpPr txBox="1"/>
          <p:nvPr/>
        </p:nvSpPr>
        <p:spPr>
          <a:xfrm>
            <a:off x="301500" y="4856745"/>
            <a:ext cx="5365010" cy="178915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5623"/>
              </a:buClr>
              <a:buSzPts val="2000"/>
              <a:buFont typeface="Arial" panose="020B0604020202020204"/>
              <a:buNone/>
            </a:pPr>
            <a:r>
              <a:rPr lang="en-US" sz="1500" b="1" i="0" u="none" strike="noStrike" cap="none" dirty="0">
                <a:solidFill>
                  <a:srgbClr val="385623"/>
                </a:solidFill>
                <a:latin typeface="Cambria" panose="02040503050406030204"/>
                <a:ea typeface="Cambria" panose="02040503050406030204"/>
                <a:cs typeface="Cambria" panose="02040503050406030204"/>
                <a:sym typeface="Cambria" panose="02040503050406030204"/>
              </a:rPr>
              <a:t>BATCH MEMBERS</a:t>
            </a:r>
            <a:endParaRPr sz="15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90000"/>
              </a:lnSpc>
              <a:spcBef>
                <a:spcPts val="1000"/>
              </a:spcBef>
              <a:spcAft>
                <a:spcPts val="0"/>
              </a:spcAft>
              <a:buClr>
                <a:srgbClr val="7030A0"/>
              </a:buClr>
              <a:buSzPts val="1800"/>
              <a:buFont typeface="Arial" panose="020B0604020202020204"/>
              <a:buNone/>
            </a:pP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SURYA PRAKASH</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 </a:t>
            </a:r>
            <a:r>
              <a:rPr lang="en-US" sz="1500" b="1" dirty="0">
                <a:solidFill>
                  <a:srgbClr val="7030A0"/>
                </a:solidFill>
                <a:latin typeface="Cambria" panose="02040503050406030204"/>
                <a:ea typeface="Cambria" panose="02040503050406030204"/>
                <a:cs typeface="Cambria" panose="02040503050406030204"/>
                <a:sym typeface="Cambria" panose="02040503050406030204"/>
              </a:rPr>
              <a:t>R (</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7376222AL214)</a:t>
            </a:r>
            <a:endParaRPr lang="en-US" sz="1500" b="1" dirty="0">
              <a:solidFill>
                <a:srgbClr val="7030A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90000"/>
              </a:lnSpc>
              <a:spcBef>
                <a:spcPts val="1000"/>
              </a:spcBef>
              <a:spcAft>
                <a:spcPts val="0"/>
              </a:spcAft>
              <a:buClr>
                <a:srgbClr val="7030A0"/>
              </a:buClr>
              <a:buSzPts val="1800"/>
              <a:buFont typeface="Arial" panose="020B0604020202020204"/>
              <a:buNone/>
            </a:pP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LOGESHRAJA M</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(7376232AL505)</a:t>
            </a:r>
            <a:endParaRPr lang="en-US" sz="1500" b="1" dirty="0">
              <a:solidFill>
                <a:srgbClr val="7030A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90000"/>
              </a:lnSpc>
              <a:spcBef>
                <a:spcPts val="1000"/>
              </a:spcBef>
              <a:spcAft>
                <a:spcPts val="0"/>
              </a:spcAft>
              <a:buClr>
                <a:srgbClr val="7030A0"/>
              </a:buClr>
              <a:buSzPts val="1800"/>
              <a:buFont typeface="Arial" panose="020B0604020202020204"/>
              <a:buNone/>
            </a:pP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SURENTHIRAN</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 </a:t>
            </a:r>
            <a:r>
              <a:rPr lang="en-US" sz="1500" b="1" dirty="0">
                <a:solidFill>
                  <a:srgbClr val="7030A0"/>
                </a:solidFill>
                <a:latin typeface="Cambria" panose="02040503050406030204"/>
                <a:ea typeface="Cambria" panose="02040503050406030204"/>
                <a:cs typeface="Cambria" panose="02040503050406030204"/>
                <a:sym typeface="Cambria" panose="02040503050406030204"/>
              </a:rPr>
              <a:t>S</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 </a:t>
            </a:r>
            <a:r>
              <a:rPr lang="en-US" sz="1500" b="1" dirty="0">
                <a:solidFill>
                  <a:srgbClr val="7030A0"/>
                </a:solidFill>
                <a:latin typeface="Cambria" panose="02040503050406030204"/>
                <a:ea typeface="Cambria" panose="02040503050406030204"/>
                <a:cs typeface="Cambria" panose="02040503050406030204"/>
                <a:sym typeface="Cambria" panose="02040503050406030204"/>
              </a:rPr>
              <a:t>(</a:t>
            </a:r>
            <a:r>
              <a:rPr lang="en-US" sz="1500" b="1" dirty="0" smtClean="0">
                <a:solidFill>
                  <a:srgbClr val="7030A0"/>
                </a:solidFill>
                <a:latin typeface="Cambria" panose="02040503050406030204"/>
                <a:ea typeface="Cambria" panose="02040503050406030204"/>
                <a:cs typeface="Cambria" panose="02040503050406030204"/>
                <a:sym typeface="Cambria" panose="02040503050406030204"/>
              </a:rPr>
              <a:t>7376221ME149)</a:t>
            </a:r>
            <a:endParaRPr lang="en-US" sz="1500" b="1" dirty="0">
              <a:solidFill>
                <a:srgbClr val="7030A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90000"/>
              </a:lnSpc>
              <a:spcBef>
                <a:spcPts val="1000"/>
              </a:spcBef>
              <a:spcAft>
                <a:spcPts val="0"/>
              </a:spcAft>
              <a:buClr>
                <a:srgbClr val="7030A0"/>
              </a:buClr>
              <a:buSzPts val="1800"/>
              <a:buFont typeface="Arial" panose="020B0604020202020204"/>
              <a:buNone/>
            </a:pPr>
            <a:endParaRPr sz="1500" b="1" i="0" u="none" strike="noStrike" cap="none" dirty="0">
              <a:solidFill>
                <a:srgbClr val="7030A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90000"/>
              </a:lnSpc>
              <a:spcBef>
                <a:spcPts val="1000"/>
              </a:spcBef>
              <a:spcAft>
                <a:spcPts val="0"/>
              </a:spcAft>
              <a:buClr>
                <a:schemeClr val="dk1"/>
              </a:buClr>
              <a:buSzPts val="2400"/>
              <a:buFont typeface="Arial" panose="020B0604020202020204"/>
              <a:buNone/>
            </a:pPr>
            <a:endParaRPr sz="1500" b="1" i="0" u="none" strike="noStrike" cap="none" dirty="0">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94" name="Google Shape;94;p1"/>
          <p:cNvSpPr txBox="1"/>
          <p:nvPr/>
        </p:nvSpPr>
        <p:spPr>
          <a:xfrm>
            <a:off x="6054300" y="3927133"/>
            <a:ext cx="61377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rgbClr val="2F5496"/>
                </a:solidFill>
                <a:latin typeface="Cambria" panose="02040503050406030204"/>
                <a:ea typeface="Cambria" panose="02040503050406030204"/>
                <a:cs typeface="Cambria" panose="02040503050406030204"/>
                <a:sym typeface="Cambria" panose="02040503050406030204"/>
              </a:rPr>
              <a:t>CATEGORY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rgbClr val="C00000"/>
                </a:solidFill>
                <a:latin typeface="Cambria" panose="02040503050406030204"/>
                <a:ea typeface="Cambria" panose="02040503050406030204"/>
                <a:cs typeface="Cambria" panose="02040503050406030204"/>
                <a:sym typeface="Cambria" panose="02040503050406030204"/>
              </a:rPr>
              <a:t>INTERNAL</a:t>
            </a:r>
            <a:endParaRPr sz="1800" b="1" i="0" u="none" strike="noStrike" cap="none" dirty="0">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13" name="Google Shape;91;p1"/>
          <p:cNvSpPr txBox="1"/>
          <p:nvPr/>
        </p:nvSpPr>
        <p:spPr>
          <a:xfrm>
            <a:off x="6691882" y="4891685"/>
            <a:ext cx="5032800" cy="14409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85623"/>
              </a:buClr>
              <a:buSzPct val="100000"/>
              <a:buFont typeface="Arial" panose="020B0604020202020204"/>
              <a:buNone/>
            </a:pPr>
            <a:r>
              <a:rPr lang="en-US" sz="2000" b="1" i="0" u="none" strike="noStrike" cap="none" dirty="0">
                <a:solidFill>
                  <a:srgbClr val="385623"/>
                </a:solidFill>
                <a:latin typeface="Cambria" panose="02040503050406030204"/>
                <a:ea typeface="Cambria" panose="02040503050406030204"/>
                <a:cs typeface="Cambria" panose="02040503050406030204"/>
                <a:sym typeface="Cambria" panose="02040503050406030204"/>
              </a:rPr>
              <a:t>GUIDE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600"/>
              </a:spcBef>
              <a:spcAft>
                <a:spcPts val="0"/>
              </a:spcAft>
              <a:buClr>
                <a:srgbClr val="7030A0"/>
              </a:buClr>
              <a:buSzPct val="100000"/>
              <a:buFont typeface="Arial" panose="020B0604020202020204"/>
              <a:buNone/>
            </a:pPr>
            <a:r>
              <a:rPr lang="en-US" sz="1800" b="1" dirty="0" smtClean="0">
                <a:solidFill>
                  <a:srgbClr val="7030A0"/>
                </a:solidFill>
                <a:latin typeface="Cambria" panose="02040503050406030204"/>
                <a:ea typeface="Cambria" panose="02040503050406030204"/>
                <a:cs typeface="Cambria" panose="02040503050406030204"/>
                <a:sym typeface="Cambria" panose="02040503050406030204"/>
              </a:rPr>
              <a:t>DR.PRAKASH K B</a:t>
            </a:r>
            <a:endParaRPr lang="en-US" sz="1800" b="1" i="0" u="none" strike="noStrike" cap="none" dirty="0">
              <a:solidFill>
                <a:srgbClr val="7030A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100000"/>
              </a:lnSpc>
              <a:spcBef>
                <a:spcPts val="600"/>
              </a:spcBef>
              <a:spcAft>
                <a:spcPts val="0"/>
              </a:spcAft>
              <a:buClr>
                <a:srgbClr val="7030A0"/>
              </a:buClr>
              <a:buSzPct val="100000"/>
              <a:buFont typeface="Arial" panose="020B0604020202020204"/>
              <a:buNone/>
            </a:pPr>
            <a:r>
              <a:rPr lang="en-US" sz="1800" b="1" i="0" u="none" strike="noStrike" cap="none" dirty="0">
                <a:solidFill>
                  <a:srgbClr val="7030A0"/>
                </a:solidFill>
                <a:latin typeface="Cambria" panose="02040503050406030204"/>
                <a:ea typeface="Cambria" panose="02040503050406030204"/>
                <a:cs typeface="Cambria" panose="02040503050406030204"/>
                <a:sym typeface="Cambria" panose="02040503050406030204"/>
              </a:rPr>
              <a:t>Assistant Professor Level </a:t>
            </a:r>
            <a:r>
              <a:rPr lang="en-US" sz="1800" b="1" i="0" u="none" strike="noStrike" cap="none" dirty="0" smtClean="0">
                <a:solidFill>
                  <a:srgbClr val="7030A0"/>
                </a:solidFill>
                <a:latin typeface="Cambria" panose="02040503050406030204"/>
                <a:ea typeface="Cambria" panose="02040503050406030204"/>
                <a:cs typeface="Cambria" panose="02040503050406030204"/>
                <a:sym typeface="Cambria" panose="02040503050406030204"/>
              </a:rPr>
              <a:t>III</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600"/>
              </a:spcBef>
              <a:spcAft>
                <a:spcPts val="0"/>
              </a:spcAft>
              <a:buClr>
                <a:srgbClr val="7030A0"/>
              </a:buClr>
              <a:buSzPct val="100000"/>
              <a:buFont typeface="Arial" panose="020B0604020202020204"/>
              <a:buNone/>
            </a:pPr>
            <a:r>
              <a:rPr lang="en-US" sz="1800" b="1" i="0" u="none" strike="noStrike" cap="none" dirty="0">
                <a:solidFill>
                  <a:srgbClr val="7030A0"/>
                </a:solidFill>
                <a:latin typeface="Cambria" panose="02040503050406030204"/>
                <a:ea typeface="Cambria" panose="02040503050406030204"/>
                <a:cs typeface="Cambria" panose="02040503050406030204"/>
                <a:sym typeface="Cambria" panose="02040503050406030204"/>
              </a:rPr>
              <a:t>Department </a:t>
            </a:r>
            <a:r>
              <a:rPr lang="en-US" sz="1800" b="1" i="0" u="none" strike="noStrike" cap="none" dirty="0" smtClean="0">
                <a:solidFill>
                  <a:srgbClr val="7030A0"/>
                </a:solidFill>
                <a:latin typeface="Cambria" panose="02040503050406030204"/>
                <a:ea typeface="Cambria" panose="02040503050406030204"/>
                <a:cs typeface="Cambria" panose="02040503050406030204"/>
                <a:sym typeface="Cambria" panose="02040503050406030204"/>
              </a:rPr>
              <a:t>of Mechanical Engineering</a:t>
            </a:r>
            <a:endParaRPr sz="2400" b="1" i="0" u="none" strike="noStrike" cap="none" dirty="0">
              <a:solidFill>
                <a:schemeClr val="dk1"/>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smtClean="0">
                <a:solidFill>
                  <a:srgbClr val="385623"/>
                </a:solidFill>
              </a:rPr>
              <a:t>11</a:t>
            </a:r>
            <a:r>
              <a:rPr lang="en-US" sz="1800" b="1" dirty="0" smtClean="0">
                <a:solidFill>
                  <a:srgbClr val="385623"/>
                </a:solidFill>
              </a:rPr>
              <a:t>-04-2025</a:t>
            </a:r>
            <a:endParaRPr sz="1800" b="1" dirty="0">
              <a:solidFill>
                <a:srgbClr val="385623"/>
              </a:solidFill>
            </a:endParaRPr>
          </a:p>
        </p:txBody>
      </p:sp>
      <p:sp>
        <p:nvSpPr>
          <p:cNvPr id="100" name="Google Shape;10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rgbClr val="385623"/>
                </a:solidFill>
              </a:rPr>
              <a:t>SECOND REVIEW PRESENTATION</a:t>
            </a:r>
            <a:endParaRPr sz="1800" b="1" dirty="0">
              <a:solidFill>
                <a:srgbClr val="385623"/>
              </a:solidFill>
            </a:endParaRPr>
          </a:p>
        </p:txBody>
      </p:sp>
      <p:sp>
        <p:nvSpPr>
          <p:cNvPr id="101" name="Google Shape;10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fld>
            <a:endParaRPr sz="1800" b="1">
              <a:solidFill>
                <a:srgbClr val="385623"/>
              </a:solidFill>
            </a:endParaRPr>
          </a:p>
        </p:txBody>
      </p:sp>
      <p:sp>
        <p:nvSpPr>
          <p:cNvPr id="102" name="Google Shape;102;p4"/>
          <p:cNvSpPr txBox="1">
            <a:spLocks noGrp="1"/>
          </p:cNvSpPr>
          <p:nvPr>
            <p:ph type="title"/>
          </p:nvPr>
        </p:nvSpPr>
        <p:spPr>
          <a:xfrm>
            <a:off x="838200" y="240434"/>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AIM &amp; OBJECTIVES OF THE PROJECT </a:t>
            </a:r>
            <a:br>
              <a:rPr lang="en-US" sz="2400" b="1" dirty="0">
                <a:solidFill>
                  <a:srgbClr val="2F5496"/>
                </a:solidFill>
                <a:latin typeface="Cambria" panose="02040503050406030204"/>
                <a:ea typeface="Cambria" panose="02040503050406030204"/>
                <a:cs typeface="Cambria" panose="02040503050406030204"/>
                <a:sym typeface="Cambria" panose="02040503050406030204"/>
              </a:rPr>
            </a:br>
            <a:r>
              <a:rPr lang="en-US" sz="2400" b="1" dirty="0">
                <a:solidFill>
                  <a:srgbClr val="2F5496"/>
                </a:solidFill>
                <a:latin typeface="Cambria" panose="02040503050406030204"/>
                <a:ea typeface="Cambria" panose="02040503050406030204"/>
                <a:cs typeface="Cambria" panose="02040503050406030204"/>
                <a:sym typeface="Cambria" panose="02040503050406030204"/>
              </a:rPr>
              <a:t>(Problem Statement)</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sp>
        <p:nvSpPr>
          <p:cNvPr id="103" name="Google Shape;103;p4"/>
          <p:cNvSpPr txBox="1">
            <a:spLocks noGrp="1"/>
          </p:cNvSpPr>
          <p:nvPr>
            <p:ph type="body" idx="1"/>
          </p:nvPr>
        </p:nvSpPr>
        <p:spPr>
          <a:xfrm>
            <a:off x="838200" y="990248"/>
            <a:ext cx="10515600" cy="51933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n-US" sz="2400" dirty="0">
                <a:solidFill>
                  <a:srgbClr val="2F5496"/>
                </a:solidFill>
              </a:rPr>
              <a:t>AIM: </a:t>
            </a:r>
            <a:endParaRPr sz="2400" dirty="0">
              <a:solidFill>
                <a:srgbClr val="2F5496"/>
              </a:solidFill>
            </a:endParaRPr>
          </a:p>
          <a:p>
            <a:pPr lvl="0" indent="-355600">
              <a:lnSpc>
                <a:spcPct val="150000"/>
              </a:lnSpc>
              <a:spcBef>
                <a:spcPts val="0"/>
              </a:spcBef>
              <a:buSzPts val="2000"/>
            </a:pPr>
            <a:r>
              <a:rPr lang="en-US" sz="2000" dirty="0"/>
              <a:t>To develop a user-friendly </a:t>
            </a:r>
            <a:r>
              <a:rPr lang="en-IN" altLang="en-US" sz="2000" dirty="0"/>
              <a:t>Bus Reservation</a:t>
            </a:r>
            <a:r>
              <a:rPr lang="en-US" sz="2000" dirty="0"/>
              <a:t> </a:t>
            </a:r>
            <a:r>
              <a:rPr lang="en-IN" altLang="en-US" sz="2000" dirty="0"/>
              <a:t>S</a:t>
            </a:r>
            <a:r>
              <a:rPr lang="en-US" sz="2000" dirty="0"/>
              <a:t>ystem that streamlines the ticket purchasing process, enhances customer experience, and improves operational efficiency for bus service providers. </a:t>
            </a:r>
            <a:endParaRPr lang="en-US" sz="2000" dirty="0"/>
          </a:p>
          <a:p>
            <a:pPr marL="101600" lvl="0" indent="0">
              <a:lnSpc>
                <a:spcPct val="150000"/>
              </a:lnSpc>
              <a:spcBef>
                <a:spcPts val="0"/>
              </a:spcBef>
              <a:buSzPts val="2000"/>
              <a:buNone/>
            </a:pPr>
            <a:r>
              <a:rPr lang="en-US" sz="2400" dirty="0">
                <a:solidFill>
                  <a:srgbClr val="2F5496"/>
                </a:solidFill>
              </a:rPr>
              <a:t>OBJECTIVE:</a:t>
            </a:r>
            <a:endParaRPr sz="2400" dirty="0">
              <a:solidFill>
                <a:srgbClr val="2F5496"/>
              </a:solidFill>
            </a:endParaRPr>
          </a:p>
          <a:p>
            <a:pPr lvl="0" indent="-355600">
              <a:lnSpc>
                <a:spcPct val="150000"/>
              </a:lnSpc>
              <a:spcBef>
                <a:spcPts val="0"/>
              </a:spcBef>
              <a:buSzPts val="2000"/>
            </a:pPr>
            <a:r>
              <a:rPr lang="en-US" sz="2000" dirty="0"/>
              <a:t>Enable secure user accounts for easy booking and management.</a:t>
            </a:r>
            <a:endParaRPr lang="en-US" sz="2000" dirty="0"/>
          </a:p>
          <a:p>
            <a:pPr lvl="0" indent="-355600">
              <a:lnSpc>
                <a:spcPct val="150000"/>
              </a:lnSpc>
              <a:spcBef>
                <a:spcPts val="0"/>
              </a:spcBef>
              <a:buSzPts val="2000"/>
            </a:pPr>
            <a:r>
              <a:rPr lang="en-US" sz="2000" dirty="0"/>
              <a:t>Provide up-to-date information on bus schedules and seat availability. </a:t>
            </a:r>
            <a:endParaRPr lang="en-US" sz="2000" dirty="0"/>
          </a:p>
          <a:p>
            <a:pPr lvl="0" indent="-355600">
              <a:lnSpc>
                <a:spcPct val="150000"/>
              </a:lnSpc>
              <a:spcBef>
                <a:spcPts val="0"/>
              </a:spcBef>
              <a:buSzPts val="2000"/>
            </a:pPr>
            <a:r>
              <a:rPr lang="en-US" sz="2000" dirty="0"/>
              <a:t>Facilitate secure online payment options for seamless transactions. </a:t>
            </a:r>
            <a:endParaRPr lang="en-US" sz="2000" dirty="0"/>
          </a:p>
          <a:p>
            <a:pPr lvl="0" indent="-355600">
              <a:lnSpc>
                <a:spcPct val="150000"/>
              </a:lnSpc>
              <a:spcBef>
                <a:spcPts val="0"/>
              </a:spcBef>
              <a:buSzPts val="2000"/>
            </a:pPr>
            <a:r>
              <a:rPr lang="en-US" sz="2000" dirty="0"/>
              <a:t>Allow users to view, modify, or cancel their bookings conveniently.</a:t>
            </a:r>
            <a:endParaRPr sz="2400" dirty="0">
              <a:solidFill>
                <a:srgbClr val="2F549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a:spLocks noGrp="1"/>
          </p:cNvSpPr>
          <p:nvPr>
            <p:ph type="title"/>
          </p:nvPr>
        </p:nvSpPr>
        <p:spPr>
          <a:xfrm>
            <a:off x="838200" y="240435"/>
            <a:ext cx="10515600" cy="2703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panose="02040503050406030204"/>
              <a:buNone/>
            </a:pPr>
            <a:r>
              <a:rPr lang="en-US" sz="3600" b="1">
                <a:solidFill>
                  <a:srgbClr val="2F5496"/>
                </a:solidFill>
                <a:latin typeface="Cambria" panose="02040503050406030204"/>
                <a:ea typeface="Cambria" panose="02040503050406030204"/>
                <a:cs typeface="Cambria" panose="02040503050406030204"/>
                <a:sym typeface="Cambria" panose="02040503050406030204"/>
              </a:rPr>
              <a:t>LITERATURE SURVEY </a:t>
            </a:r>
            <a:endParaRPr sz="3600" b="1">
              <a:solidFill>
                <a:srgbClr val="2F5496"/>
              </a:solidFill>
              <a:latin typeface="Cambria" panose="02040503050406030204"/>
              <a:ea typeface="Cambria" panose="02040503050406030204"/>
              <a:cs typeface="Cambria" panose="02040503050406030204"/>
              <a:sym typeface="Cambria" panose="02040503050406030204"/>
            </a:endParaRPr>
          </a:p>
        </p:txBody>
      </p:sp>
      <p:sp>
        <p:nvSpPr>
          <p:cNvPr id="118" name="Google Shape;118;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dirty="0" smtClean="0">
                <a:solidFill>
                  <a:srgbClr val="0070C0"/>
                </a:solidFill>
                <a:latin typeface="Arial" panose="020B0604020202020204"/>
                <a:ea typeface="Arial" panose="020B0604020202020204"/>
                <a:cs typeface="Arial" panose="020B0604020202020204"/>
                <a:sym typeface="Arial" panose="020B0604020202020204"/>
              </a:rPr>
              <a:t>11-04-2025</a:t>
            </a:r>
            <a:endParaRPr sz="1800" dirty="0">
              <a:solidFill>
                <a:srgbClr val="0070C0"/>
              </a:solidFill>
              <a:latin typeface="Arial" panose="020B0604020202020204"/>
              <a:ea typeface="Arial" panose="020B0604020202020204"/>
              <a:cs typeface="Arial" panose="020B0604020202020204"/>
              <a:sym typeface="Arial" panose="020B0604020202020204"/>
            </a:endParaRPr>
          </a:p>
        </p:txBody>
      </p:sp>
      <p:sp>
        <p:nvSpPr>
          <p:cNvPr id="119" name="Google Shape;119;p3"/>
          <p:cNvSpPr txBox="1">
            <a:spLocks noGrp="1"/>
          </p:cNvSpPr>
          <p:nvPr>
            <p:ph type="ftr" idx="11"/>
          </p:nvPr>
        </p:nvSpPr>
        <p:spPr>
          <a:xfrm>
            <a:off x="4246421"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dirty="0">
                <a:solidFill>
                  <a:srgbClr val="0070C0"/>
                </a:solidFill>
                <a:latin typeface="Cambria" panose="02040503050406030204"/>
                <a:ea typeface="Cambria" panose="02040503050406030204"/>
                <a:cs typeface="Cambria" panose="02040503050406030204"/>
                <a:sym typeface="Cambria" panose="02040503050406030204"/>
              </a:rPr>
              <a:t>SECOND REVIEW PRESENTATION</a:t>
            </a:r>
            <a:endParaRPr sz="1800" dirty="0">
              <a:solidFill>
                <a:srgbClr val="0070C0"/>
              </a:solidFill>
              <a:latin typeface="Cambria" panose="02040503050406030204"/>
              <a:ea typeface="Cambria" panose="02040503050406030204"/>
              <a:cs typeface="Cambria" panose="02040503050406030204"/>
              <a:sym typeface="Cambria" panose="02040503050406030204"/>
            </a:endParaRPr>
          </a:p>
        </p:txBody>
      </p:sp>
      <p:sp>
        <p:nvSpPr>
          <p:cNvPr id="120" name="Google Shape;120;p3"/>
          <p:cNvSpPr txBox="1">
            <a:spLocks noGrp="1"/>
          </p:cNvSpPr>
          <p:nvPr>
            <p:ph type="sldNum" idx="12"/>
          </p:nvPr>
        </p:nvSpPr>
        <p:spPr>
          <a:xfrm>
            <a:off x="8610600" y="636651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a:solidFill>
                  <a:srgbClr val="0070C0"/>
                </a:solidFill>
              </a:rPr>
            </a:fld>
            <a:endParaRPr sz="1800">
              <a:solidFill>
                <a:srgbClr val="0070C0"/>
              </a:solidFill>
            </a:endParaRPr>
          </a:p>
        </p:txBody>
      </p:sp>
      <p:graphicFrame>
        <p:nvGraphicFramePr>
          <p:cNvPr id="121" name="Google Shape;121;p3"/>
          <p:cNvGraphicFramePr/>
          <p:nvPr/>
        </p:nvGraphicFramePr>
        <p:xfrm>
          <a:off x="838200" y="708729"/>
          <a:ext cx="10461850" cy="5591905"/>
        </p:xfrm>
        <a:graphic>
          <a:graphicData uri="http://schemas.openxmlformats.org/drawingml/2006/table">
            <a:tbl>
              <a:tblPr firstRow="1" bandRow="1">
                <a:noFill/>
                <a:tableStyleId>{1D136F4F-A28D-4FD5-A047-323B083E55CD}</a:tableStyleId>
              </a:tblPr>
              <a:tblGrid>
                <a:gridCol w="725825"/>
                <a:gridCol w="2567275"/>
                <a:gridCol w="3650000"/>
                <a:gridCol w="3518750"/>
              </a:tblGrid>
              <a:tr h="13140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Sl.No.</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References</a:t>
                      </a:r>
                      <a:endParaRPr sz="1600" u="none" strike="noStrike" cap="none"/>
                    </a:p>
                    <a:p>
                      <a:pPr marL="0" marR="0" lvl="0" indent="0" algn="ctr"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 Journal Papers Only)</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Works carried out  </a:t>
                      </a:r>
                      <a:endParaRPr sz="1600" u="none" strike="noStrike" cap="none"/>
                    </a:p>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 with details of Methods/ Materials/ Software/ Algorithms / fabrication / techniques/ components used ) </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Information gathered relevant to your project</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1</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""A Framework for Secure Online Bus Ticket Booking System" by Sharma, P., &amp; Gupta, R. (2020)</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Developed a secure framework using encryption techniques for transaction safety. Integrated APIs for route management and real-time seat availability.</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Highlights security aspects and real-time data updates crucial for user trust and system reliability.</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2</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"Design and Implementation of a Scalable Online Bus Reservation System" by Lee, M., &amp; Kim, J. (2019)</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Used a microservices architecture to scale user requests efficiently, with cloud storage integration for handling peak loads.	</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Provides insight into handling large-scale user traffic and ensuring system availability during high demand.</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865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3</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"User Experience in Online Bus Ticket Systems" by Hassan, N., &amp; Kaur, S. (2021)</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Focused on UI/UX improvements using user behavior analysis and feedback loops, implemented with React for a responsive design.</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Shows the importance of user-friendly interfaces to increase booking efficiency and customer satisfaction.</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99072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4</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"Machine Learning for Price Prediction in Bus Ticket Systems" by Zhang, H., &amp; Li, F. (2022)</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Used machine learning models (Random Forest, SVM) to dynamically predict ticket prices based on demand, time, and availability.</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Demonstrates how dynamic pricing can optimize seat utilization and revenue.</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5</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"Blockchain-Based Online Bus Ticketing System for Transparency" by Patel, A., &amp; Singh, L. (2023)</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Implemented blockchain for ticketing transactions, ensuring transparent and tamper-proof booking records.</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Highlights the role of blockchain in enhancing data integrity and transaction transparency.	</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a:spLocks noGrp="1"/>
          </p:cNvSpPr>
          <p:nvPr>
            <p:ph type="title"/>
          </p:nvPr>
        </p:nvSpPr>
        <p:spPr>
          <a:xfrm>
            <a:off x="838200" y="240435"/>
            <a:ext cx="10515600" cy="2703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panose="02040503050406030204"/>
              <a:buNone/>
            </a:pPr>
            <a:r>
              <a:rPr lang="en-US" sz="3600" b="1">
                <a:solidFill>
                  <a:srgbClr val="2F5496"/>
                </a:solidFill>
                <a:latin typeface="Cambria" panose="02040503050406030204"/>
                <a:ea typeface="Cambria" panose="02040503050406030204"/>
                <a:cs typeface="Cambria" panose="02040503050406030204"/>
                <a:sym typeface="Cambria" panose="02040503050406030204"/>
              </a:rPr>
              <a:t>LITERATURE SURVEY </a:t>
            </a:r>
            <a:endParaRPr sz="3600" b="1">
              <a:solidFill>
                <a:srgbClr val="2F5496"/>
              </a:solidFill>
              <a:latin typeface="Cambria" panose="02040503050406030204"/>
              <a:ea typeface="Cambria" panose="02040503050406030204"/>
              <a:cs typeface="Cambria" panose="02040503050406030204"/>
              <a:sym typeface="Cambria" panose="02040503050406030204"/>
            </a:endParaRPr>
          </a:p>
        </p:txBody>
      </p:sp>
      <p:sp>
        <p:nvSpPr>
          <p:cNvPr id="118" name="Google Shape;118;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dirty="0" smtClean="0">
                <a:solidFill>
                  <a:srgbClr val="0070C0"/>
                </a:solidFill>
                <a:latin typeface="Arial" panose="020B0604020202020204"/>
                <a:ea typeface="Arial" panose="020B0604020202020204"/>
                <a:cs typeface="Arial" panose="020B0604020202020204"/>
                <a:sym typeface="Arial" panose="020B0604020202020204"/>
              </a:rPr>
              <a:t>11-04-2025</a:t>
            </a:r>
            <a:endParaRPr sz="1800" dirty="0">
              <a:solidFill>
                <a:srgbClr val="0070C0"/>
              </a:solidFill>
              <a:latin typeface="Arial" panose="020B0604020202020204"/>
              <a:ea typeface="Arial" panose="020B0604020202020204"/>
              <a:cs typeface="Arial" panose="020B0604020202020204"/>
              <a:sym typeface="Arial" panose="020B0604020202020204"/>
            </a:endParaRPr>
          </a:p>
        </p:txBody>
      </p:sp>
      <p:sp>
        <p:nvSpPr>
          <p:cNvPr id="119" name="Google Shape;119;p3"/>
          <p:cNvSpPr txBox="1">
            <a:spLocks noGrp="1"/>
          </p:cNvSpPr>
          <p:nvPr>
            <p:ph type="ftr" idx="11"/>
          </p:nvPr>
        </p:nvSpPr>
        <p:spPr>
          <a:xfrm>
            <a:off x="4246421"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dirty="0">
                <a:solidFill>
                  <a:srgbClr val="0070C0"/>
                </a:solidFill>
                <a:latin typeface="Cambria" panose="02040503050406030204"/>
                <a:ea typeface="Cambria" panose="02040503050406030204"/>
                <a:cs typeface="Cambria" panose="02040503050406030204"/>
                <a:sym typeface="Cambria" panose="02040503050406030204"/>
              </a:rPr>
              <a:t>SECOND REVIEW PRESENTATION</a:t>
            </a:r>
            <a:endParaRPr sz="1800" dirty="0">
              <a:solidFill>
                <a:srgbClr val="0070C0"/>
              </a:solidFill>
              <a:latin typeface="Cambria" panose="02040503050406030204"/>
              <a:ea typeface="Cambria" panose="02040503050406030204"/>
              <a:cs typeface="Cambria" panose="02040503050406030204"/>
              <a:sym typeface="Cambria" panose="02040503050406030204"/>
            </a:endParaRPr>
          </a:p>
        </p:txBody>
      </p:sp>
      <p:sp>
        <p:nvSpPr>
          <p:cNvPr id="120" name="Google Shape;120;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a:solidFill>
                  <a:srgbClr val="0070C0"/>
                </a:solidFill>
              </a:rPr>
            </a:fld>
            <a:endParaRPr sz="1800">
              <a:solidFill>
                <a:srgbClr val="0070C0"/>
              </a:solidFill>
            </a:endParaRPr>
          </a:p>
        </p:txBody>
      </p:sp>
      <p:graphicFrame>
        <p:nvGraphicFramePr>
          <p:cNvPr id="121" name="Google Shape;121;p3"/>
          <p:cNvGraphicFramePr/>
          <p:nvPr/>
        </p:nvGraphicFramePr>
        <p:xfrm>
          <a:off x="838200" y="716170"/>
          <a:ext cx="10461850" cy="5707160"/>
        </p:xfrm>
        <a:graphic>
          <a:graphicData uri="http://schemas.openxmlformats.org/drawingml/2006/table">
            <a:tbl>
              <a:tblPr firstRow="1" bandRow="1">
                <a:noFill/>
                <a:tableStyleId>{1D136F4F-A28D-4FD5-A047-323B083E55CD}</a:tableStyleId>
              </a:tblPr>
              <a:tblGrid>
                <a:gridCol w="725825"/>
                <a:gridCol w="2567275"/>
                <a:gridCol w="3650000"/>
                <a:gridCol w="3518750"/>
              </a:tblGrid>
              <a:tr h="13140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Sl.No.</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References</a:t>
                      </a:r>
                      <a:endParaRPr sz="1600" u="none" strike="noStrike" cap="none"/>
                    </a:p>
                    <a:p>
                      <a:pPr marL="0" marR="0" lvl="0" indent="0" algn="ctr"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 Journal Papers Only)</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Works carried out  </a:t>
                      </a:r>
                      <a:endParaRPr sz="1600" u="none" strike="noStrike" cap="none"/>
                    </a:p>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 with details of Methods/ Materials/ Software/ Algorithms / fabrication / techniques/ components used ) </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600" b="1" u="none" strike="noStrike" cap="none">
                          <a:solidFill>
                            <a:schemeClr val="dk1"/>
                          </a:solidFill>
                        </a:rPr>
                        <a:t>Information gathered relevant to your project</a:t>
                      </a:r>
                      <a:endParaRPr sz="16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6</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"Mobile-Friendly Bus Reservation System" by Kumar, A., &amp; Desai, P. (2021)</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Developed a cross-platform mobile app using Flutter to support Android and iOS users, ensuring mobile responsiveness and offline booking features.</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Highlights the need for mobile-first design, essential for modern users who prefer booking via smartphones.</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solidFill>
                            <a:schemeClr val="dk1"/>
                          </a:solidFill>
                        </a:rPr>
                        <a:t>7</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"Optimizing Seat Allocation in Bus Ticketing Systems" by Tan, W., &amp; Zhang, R. (2020)</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Applied a heuristic algorithm to optimize seat allocation and minimize unoccupied seats by considering passenger preferences and travel history.	</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Demonstrates how intelligent seat allocation can increase occupancy rates and improve user experience.</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8658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solidFill>
                            <a:schemeClr val="dk1"/>
                          </a:solidFill>
                        </a:rPr>
                        <a:t>8</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"Real-Time Bus Schedule Tracking and Integration with Ticket Booking System" by George, M., &amp; Thomas, J. (2019)</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Integrated GPS-based real-time bus tracking with the booking system using REST APIs for live bus schedule updates and delay predictions.</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Highlights the benefit of real-time bus tracking integration for better user convenience and system accuracy.</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99072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solidFill>
                            <a:schemeClr val="dk1"/>
                          </a:solidFill>
                        </a:rPr>
                        <a:t>9</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"Big Data Analytics in Bus Ticketing Systems" by Silva, D., &amp; Almeida, P. (2022)</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Leveraged big data analytics tools (Hadoop, Spark) to analyze customer booking patterns, optimize routes, and predict peak times for ticket sales.</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Shows the value of data-driven decisions in optimizing route planning and improving customer service.</a:t>
                      </a:r>
                      <a:endParaRPr lang="en-US" sz="13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r h="768675">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solidFill>
                            <a:schemeClr val="dk1"/>
                          </a:solidFill>
                        </a:rPr>
                        <a:t>10</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100" b="1" u="none" strike="noStrike" cap="none" dirty="0">
                          <a:latin typeface="Arial" panose="020B0604020202020204"/>
                          <a:ea typeface="Arial" panose="020B0604020202020204"/>
                          <a:cs typeface="Arial" panose="020B0604020202020204"/>
                          <a:sym typeface="Arial" panose="020B0604020202020204"/>
                        </a:rPr>
                        <a:t>"Multi-Language Support in Bus Ticket Booking Systems" by Hernandez, S., &amp; Garcia, R. (2020)</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Implemented multi-language support using Natural Language Processing (NLP) tools for a global user base, enhancing accessibility.</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just" rtl="0">
                        <a:lnSpc>
                          <a:spcPct val="100000"/>
                        </a:lnSpc>
                        <a:spcBef>
                          <a:spcPts val="0"/>
                        </a:spcBef>
                        <a:spcAft>
                          <a:spcPts val="0"/>
                        </a:spcAft>
                        <a:buClr>
                          <a:srgbClr val="000000"/>
                        </a:buClr>
                        <a:buSzPts val="1800"/>
                        <a:buFont typeface="Arial" panose="020B0604020202020204"/>
                        <a:buNone/>
                      </a:pPr>
                      <a:r>
                        <a:rPr lang="en-US" sz="1300" u="none" strike="noStrike" cap="none" dirty="0"/>
                        <a:t>Highlights the importance of localization and language support for wider user reach and inclusivity..	</a:t>
                      </a:r>
                      <a:endParaRPr sz="13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body" idx="1"/>
          </p:nvPr>
        </p:nvSpPr>
        <p:spPr>
          <a:xfrm>
            <a:off x="893050" y="871538"/>
            <a:ext cx="10674900" cy="4657725"/>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70000" lnSpcReduction="20000"/>
          </a:bodyPr>
          <a:lstStyle/>
          <a:p>
            <a:pPr marL="914400" lvl="0" indent="-358140" algn="just">
              <a:lnSpc>
                <a:spcPct val="150000"/>
              </a:lnSpc>
              <a:spcBef>
                <a:spcPts val="500"/>
              </a:spcBef>
              <a:buSzPct val="100000"/>
            </a:pPr>
            <a:r>
              <a:rPr lang="en-US" sz="2900" dirty="0"/>
              <a:t>Development of a user-friendly and responsive interface for easy navigation and booking on desktop devices.</a:t>
            </a:r>
            <a:endParaRPr lang="en-US" sz="2900" dirty="0"/>
          </a:p>
          <a:p>
            <a:pPr marL="914400" lvl="0" indent="-358140" algn="just">
              <a:lnSpc>
                <a:spcPct val="150000"/>
              </a:lnSpc>
              <a:spcBef>
                <a:spcPts val="500"/>
              </a:spcBef>
              <a:buSzPct val="100000"/>
            </a:pPr>
            <a:r>
              <a:rPr lang="en-US" sz="2900" dirty="0"/>
              <a:t>Implementation of secure user registration, login, and profile management features, allowing customers to track and manage their bookings.</a:t>
            </a:r>
            <a:endParaRPr lang="en-US" sz="2900" dirty="0"/>
          </a:p>
          <a:p>
            <a:pPr marL="914400" lvl="0" indent="-358140" algn="just">
              <a:lnSpc>
                <a:spcPct val="150000"/>
              </a:lnSpc>
              <a:spcBef>
                <a:spcPts val="500"/>
              </a:spcBef>
              <a:buSzPct val="100000"/>
            </a:pPr>
            <a:r>
              <a:rPr lang="en-US" sz="2900" dirty="0"/>
              <a:t>Integration with various bus operators to provide accurate real-time information on bus schedules, seat availability, and pricing.</a:t>
            </a:r>
            <a:endParaRPr lang="en-US" sz="2900" dirty="0"/>
          </a:p>
          <a:p>
            <a:pPr marL="914400" lvl="0" indent="-358140" algn="just">
              <a:lnSpc>
                <a:spcPct val="150000"/>
              </a:lnSpc>
              <a:spcBef>
                <a:spcPts val="500"/>
              </a:spcBef>
              <a:buSzPct val="100000"/>
            </a:pPr>
            <a:r>
              <a:rPr lang="en-US" sz="2900" dirty="0"/>
              <a:t>Incorporation of secure payment gateways to facilitate diverse payment options, ensuring safe and seamless transactions.</a:t>
            </a:r>
            <a:endParaRPr lang="en-US" sz="2900" dirty="0"/>
          </a:p>
          <a:p>
            <a:pPr marL="914400" lvl="0" indent="-358140" algn="just">
              <a:lnSpc>
                <a:spcPct val="150000"/>
              </a:lnSpc>
              <a:spcBef>
                <a:spcPts val="500"/>
              </a:spcBef>
              <a:buSzPct val="100000"/>
            </a:pPr>
            <a:r>
              <a:rPr lang="en-US" sz="2900" dirty="0"/>
              <a:t>Inclusion of support mechanisms such as live chat and FAQs, enabling users to get assistance and resolve issues quickly throughout their booking journey.</a:t>
            </a:r>
            <a:endParaRPr sz="2900" dirty="0"/>
          </a:p>
        </p:txBody>
      </p:sp>
      <p:sp>
        <p:nvSpPr>
          <p:cNvPr id="127" name="Google Shape;12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28" name="Google Shape;12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rgbClr val="385623"/>
                </a:solidFill>
              </a:rPr>
              <a:t>SECOND REVIEW PRESENTATION</a:t>
            </a:r>
            <a:endParaRPr sz="1800" b="1" dirty="0">
              <a:solidFill>
                <a:srgbClr val="385623"/>
              </a:solidFill>
            </a:endParaRPr>
          </a:p>
        </p:txBody>
      </p:sp>
      <p:sp>
        <p:nvSpPr>
          <p:cNvPr id="129" name="Google Shape;12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fld>
            <a:endParaRPr sz="1800" b="1">
              <a:solidFill>
                <a:srgbClr val="385623"/>
              </a:solidFill>
            </a:endParaRPr>
          </a:p>
        </p:txBody>
      </p:sp>
      <p:sp>
        <p:nvSpPr>
          <p:cNvPr id="130" name="Google Shape;130;p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SCOPE OF THE PROJECT</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body" idx="1"/>
          </p:nvPr>
        </p:nvSpPr>
        <p:spPr>
          <a:xfrm>
            <a:off x="838200" y="678875"/>
            <a:ext cx="10674900" cy="55416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15000"/>
              </a:lnSpc>
              <a:spcBef>
                <a:spcPts val="500"/>
              </a:spcBef>
              <a:spcAft>
                <a:spcPts val="0"/>
              </a:spcAft>
              <a:buSzPts val="1800"/>
              <a:buNone/>
            </a:pPr>
            <a:endParaRPr sz="2000" dirty="0"/>
          </a:p>
          <a:p>
            <a:pPr marL="914400" lvl="3" indent="-355600" algn="just">
              <a:lnSpc>
                <a:spcPct val="115000"/>
              </a:lnSpc>
              <a:buSzPts val="2000"/>
              <a:buChar char="●"/>
            </a:pPr>
            <a:r>
              <a:rPr lang="en-US" sz="2000" dirty="0"/>
              <a:t>Users require a seamless booking experience that allows them to purchase tickets anytime and anywhere, reducing reliance on physical ticket counters.</a:t>
            </a:r>
            <a:endParaRPr lang="en-US" sz="2000" dirty="0"/>
          </a:p>
          <a:p>
            <a:pPr marL="914400" lvl="3" indent="-355600" algn="just">
              <a:lnSpc>
                <a:spcPct val="115000"/>
              </a:lnSpc>
              <a:buSzPts val="2000"/>
              <a:buChar char="●"/>
            </a:pPr>
            <a:r>
              <a:rPr lang="en-US" sz="2000" dirty="0"/>
              <a:t>Traditional booking methods often involve long wait times; an online system speeds up the process, allowing users to book in minutes.</a:t>
            </a:r>
            <a:endParaRPr lang="en-US" sz="2000" dirty="0"/>
          </a:p>
          <a:p>
            <a:pPr marL="914400" lvl="3" indent="-355600" algn="just">
              <a:lnSpc>
                <a:spcPct val="115000"/>
              </a:lnSpc>
              <a:buSzPts val="2000"/>
              <a:buChar char="●"/>
            </a:pPr>
            <a:r>
              <a:rPr lang="en-US" sz="2000" dirty="0"/>
              <a:t>Customers need accurate, real-time information on bus schedules and seat availability to make informed decisions.</a:t>
            </a:r>
            <a:endParaRPr lang="en-US" sz="2000" dirty="0"/>
          </a:p>
          <a:p>
            <a:pPr marL="914400" lvl="3" indent="-355600" algn="just">
              <a:lnSpc>
                <a:spcPct val="115000"/>
              </a:lnSpc>
              <a:buSzPts val="2000"/>
              <a:buChar char="●"/>
            </a:pPr>
            <a:r>
              <a:rPr lang="en-US" sz="2000" dirty="0"/>
              <a:t>A user-friendly platform improves overall satisfaction, encouraging repeat usage and loyalty.</a:t>
            </a:r>
            <a:endParaRPr lang="en-US" sz="2000" dirty="0"/>
          </a:p>
          <a:p>
            <a:pPr marL="914400" lvl="3" indent="-355600" algn="just">
              <a:lnSpc>
                <a:spcPct val="115000"/>
              </a:lnSpc>
              <a:buSzPts val="2000"/>
              <a:buChar char="●"/>
            </a:pPr>
            <a:r>
              <a:rPr lang="en-US" sz="2000" dirty="0"/>
              <a:t>Bus operators benefit from automated processes, reducing administrative tasks and increasing sales through broader market reach.</a:t>
            </a:r>
            <a:endParaRPr sz="2000" dirty="0"/>
          </a:p>
        </p:txBody>
      </p:sp>
      <p:sp>
        <p:nvSpPr>
          <p:cNvPr id="136" name="Google Shape;13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37" name="Google Shape;13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rgbClr val="385623"/>
                </a:solidFill>
              </a:rPr>
              <a:t>SECOND REVIEW PRESENTATION</a:t>
            </a:r>
            <a:endParaRPr sz="1800" b="1" dirty="0">
              <a:solidFill>
                <a:srgbClr val="385623"/>
              </a:solidFill>
            </a:endParaRPr>
          </a:p>
        </p:txBody>
      </p:sp>
      <p:sp>
        <p:nvSpPr>
          <p:cNvPr id="138" name="Google Shape;13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fld>
            <a:endParaRPr sz="1800" b="1">
              <a:solidFill>
                <a:srgbClr val="385623"/>
              </a:solidFill>
            </a:endParaRPr>
          </a:p>
        </p:txBody>
      </p:sp>
      <p:sp>
        <p:nvSpPr>
          <p:cNvPr id="139" name="Google Shape;139;p6"/>
          <p:cNvSpPr txBox="1">
            <a:spLocks noGrp="1"/>
          </p:cNvSpPr>
          <p:nvPr>
            <p:ph type="title"/>
          </p:nvPr>
        </p:nvSpPr>
        <p:spPr>
          <a:xfrm>
            <a:off x="838200" y="18328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NEED FOR THE CURRENT STUDY </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45" name="Google Shape;14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46" name="Google Shape;14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47" name="Google Shape;147;p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PROPOSED METHODOLOGY ( Flow Chart) </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pic>
        <p:nvPicPr>
          <p:cNvPr id="4" name="Picture 3"/>
          <p:cNvPicPr>
            <a:picLocks noChangeAspect="1"/>
          </p:cNvPicPr>
          <p:nvPr/>
        </p:nvPicPr>
        <p:blipFill>
          <a:blip r:embed="rId1"/>
          <a:stretch>
            <a:fillRect/>
          </a:stretch>
        </p:blipFill>
        <p:spPr>
          <a:xfrm>
            <a:off x="3309937" y="1271587"/>
            <a:ext cx="5572125" cy="4314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42035" y="878840"/>
            <a:ext cx="10311765" cy="5099685"/>
          </a:xfrm>
          <a:prstGeom prst="rect">
            <a:avLst/>
          </a:prstGeom>
        </p:spPr>
      </p:pic>
      <p:sp>
        <p:nvSpPr>
          <p:cNvPr id="153" name="Google Shape;15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54" name="Google Shape;15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56" name="Google Shape;156;p1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PROPOSED METHODOLOGY ( Gantt Chart) </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pic>
        <p:nvPicPr>
          <p:cNvPr id="15" name="Picture 14"/>
          <p:cNvPicPr>
            <a:picLocks noChangeAspect="1"/>
          </p:cNvPicPr>
          <p:nvPr/>
        </p:nvPicPr>
        <p:blipFill>
          <a:blip r:embed="rId2"/>
          <a:stretch>
            <a:fillRect/>
          </a:stretch>
        </p:blipFill>
        <p:spPr>
          <a:xfrm>
            <a:off x="3795395" y="1663700"/>
            <a:ext cx="1123950" cy="295910"/>
          </a:xfrm>
          <a:prstGeom prst="rect">
            <a:avLst/>
          </a:prstGeom>
        </p:spPr>
      </p:pic>
      <p:pic>
        <p:nvPicPr>
          <p:cNvPr id="16" name="Picture 15"/>
          <p:cNvPicPr>
            <a:picLocks noChangeAspect="1"/>
          </p:cNvPicPr>
          <p:nvPr/>
        </p:nvPicPr>
        <p:blipFill>
          <a:blip r:embed="rId2"/>
          <a:stretch>
            <a:fillRect/>
          </a:stretch>
        </p:blipFill>
        <p:spPr>
          <a:xfrm>
            <a:off x="5081905" y="2203450"/>
            <a:ext cx="1036955" cy="273050"/>
          </a:xfrm>
          <a:prstGeom prst="rect">
            <a:avLst/>
          </a:prstGeom>
        </p:spPr>
      </p:pic>
      <p:pic>
        <p:nvPicPr>
          <p:cNvPr id="17" name="Picture 16"/>
          <p:cNvPicPr>
            <a:picLocks noChangeAspect="1"/>
          </p:cNvPicPr>
          <p:nvPr/>
        </p:nvPicPr>
        <p:blipFill>
          <a:blip r:embed="rId2"/>
          <a:stretch>
            <a:fillRect/>
          </a:stretch>
        </p:blipFill>
        <p:spPr>
          <a:xfrm>
            <a:off x="5075555" y="2746375"/>
            <a:ext cx="1040130" cy="273685"/>
          </a:xfrm>
          <a:prstGeom prst="rect">
            <a:avLst/>
          </a:prstGeom>
        </p:spPr>
      </p:pic>
      <p:pic>
        <p:nvPicPr>
          <p:cNvPr id="18" name="Picture 17"/>
          <p:cNvPicPr>
            <a:picLocks noChangeAspect="1"/>
          </p:cNvPicPr>
          <p:nvPr/>
        </p:nvPicPr>
        <p:blipFill>
          <a:blip r:embed="rId2"/>
          <a:stretch>
            <a:fillRect/>
          </a:stretch>
        </p:blipFill>
        <p:spPr>
          <a:xfrm>
            <a:off x="6337300" y="2766060"/>
            <a:ext cx="1036955" cy="273050"/>
          </a:xfrm>
          <a:prstGeom prst="rect">
            <a:avLst/>
          </a:prstGeom>
        </p:spPr>
      </p:pic>
      <p:pic>
        <p:nvPicPr>
          <p:cNvPr id="19" name="Picture 18"/>
          <p:cNvPicPr>
            <a:picLocks noChangeAspect="1"/>
          </p:cNvPicPr>
          <p:nvPr/>
        </p:nvPicPr>
        <p:blipFill>
          <a:blip r:embed="rId2"/>
          <a:stretch>
            <a:fillRect/>
          </a:stretch>
        </p:blipFill>
        <p:spPr>
          <a:xfrm>
            <a:off x="6343650" y="3295650"/>
            <a:ext cx="1079500" cy="283845"/>
          </a:xfrm>
          <a:prstGeom prst="rect">
            <a:avLst/>
          </a:prstGeom>
        </p:spPr>
      </p:pic>
      <p:pic>
        <p:nvPicPr>
          <p:cNvPr id="20" name="Picture 19"/>
          <p:cNvPicPr>
            <a:picLocks noChangeAspect="1"/>
          </p:cNvPicPr>
          <p:nvPr/>
        </p:nvPicPr>
        <p:blipFill>
          <a:blip r:embed="rId2"/>
          <a:stretch>
            <a:fillRect/>
          </a:stretch>
        </p:blipFill>
        <p:spPr>
          <a:xfrm>
            <a:off x="7586345" y="3829050"/>
            <a:ext cx="1157605" cy="304800"/>
          </a:xfrm>
          <a:prstGeom prst="rect">
            <a:avLst/>
          </a:prstGeom>
        </p:spPr>
      </p:pic>
      <p:pic>
        <p:nvPicPr>
          <p:cNvPr id="21" name="Picture 20"/>
          <p:cNvPicPr>
            <a:picLocks noChangeAspect="1"/>
          </p:cNvPicPr>
          <p:nvPr/>
        </p:nvPicPr>
        <p:blipFill>
          <a:blip r:embed="rId2"/>
          <a:stretch>
            <a:fillRect/>
          </a:stretch>
        </p:blipFill>
        <p:spPr>
          <a:xfrm>
            <a:off x="8864600" y="4387850"/>
            <a:ext cx="1108710" cy="292100"/>
          </a:xfrm>
          <a:prstGeom prst="rect">
            <a:avLst/>
          </a:prstGeom>
        </p:spPr>
      </p:pic>
      <p:pic>
        <p:nvPicPr>
          <p:cNvPr id="22" name="Picture 21"/>
          <p:cNvPicPr>
            <a:picLocks noChangeAspect="1"/>
          </p:cNvPicPr>
          <p:nvPr/>
        </p:nvPicPr>
        <p:blipFill>
          <a:blip r:embed="rId2"/>
          <a:stretch>
            <a:fillRect/>
          </a:stretch>
        </p:blipFill>
        <p:spPr>
          <a:xfrm>
            <a:off x="8906510" y="4965065"/>
            <a:ext cx="1060450" cy="279400"/>
          </a:xfrm>
          <a:prstGeom prst="rect">
            <a:avLst/>
          </a:prstGeom>
        </p:spPr>
      </p:pic>
      <p:pic>
        <p:nvPicPr>
          <p:cNvPr id="23" name="Picture 22"/>
          <p:cNvPicPr>
            <a:picLocks noChangeAspect="1"/>
          </p:cNvPicPr>
          <p:nvPr/>
        </p:nvPicPr>
        <p:blipFill>
          <a:blip r:embed="rId2"/>
          <a:stretch>
            <a:fillRect/>
          </a:stretch>
        </p:blipFill>
        <p:spPr>
          <a:xfrm>
            <a:off x="10172700" y="5518150"/>
            <a:ext cx="1036955" cy="273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body" idx="1"/>
          </p:nvPr>
        </p:nvSpPr>
        <p:spPr>
          <a:xfrm>
            <a:off x="838200" y="1086974"/>
            <a:ext cx="10703560" cy="5269376"/>
          </a:xfrm>
          <a:prstGeom prst="rect">
            <a:avLst/>
          </a:prstGeom>
          <a:noFill/>
          <a:ln w="9525" cap="flat" cmpd="sng">
            <a:solidFill>
              <a:srgbClr val="98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50000"/>
              </a:lnSpc>
              <a:spcBef>
                <a:spcPts val="1000"/>
              </a:spcBef>
              <a:spcAft>
                <a:spcPts val="0"/>
              </a:spcAft>
              <a:buClr>
                <a:schemeClr val="dk1"/>
              </a:buClr>
              <a:buSzPts val="2800"/>
              <a:buNone/>
            </a:pPr>
            <a:r>
              <a:rPr lang="en-US" sz="2000" b="1" dirty="0">
                <a:solidFill>
                  <a:srgbClr val="3C78D8"/>
                </a:solidFill>
              </a:rPr>
              <a:t>COMPONENTS:</a:t>
            </a:r>
            <a:endParaRPr sz="2000" b="1" dirty="0">
              <a:solidFill>
                <a:srgbClr val="3C78D8"/>
              </a:solidFill>
            </a:endParaRPr>
          </a:p>
          <a:p>
            <a:pPr marL="457200" lvl="0" indent="-355600" algn="l" rtl="0">
              <a:lnSpc>
                <a:spcPct val="150000"/>
              </a:lnSpc>
              <a:spcBef>
                <a:spcPts val="1000"/>
              </a:spcBef>
              <a:spcAft>
                <a:spcPts val="0"/>
              </a:spcAft>
              <a:buSzPts val="2000"/>
              <a:buChar char="●"/>
            </a:pPr>
            <a:r>
              <a:rPr lang="en-US" sz="2000" dirty="0"/>
              <a:t>Visual studio code</a:t>
            </a:r>
            <a:endParaRPr sz="2000" dirty="0"/>
          </a:p>
          <a:p>
            <a:pPr marL="457200" lvl="0" indent="-355600" algn="l" rtl="0">
              <a:lnSpc>
                <a:spcPct val="150000"/>
              </a:lnSpc>
              <a:spcBef>
                <a:spcPts val="0"/>
              </a:spcBef>
              <a:spcAft>
                <a:spcPts val="0"/>
              </a:spcAft>
              <a:buSzPts val="2000"/>
              <a:buChar char="●"/>
            </a:pPr>
            <a:r>
              <a:rPr lang="en-US" sz="2000" dirty="0"/>
              <a:t>GitHub</a:t>
            </a:r>
            <a:endParaRPr lang="en-US" sz="2000" dirty="0"/>
          </a:p>
          <a:p>
            <a:pPr marL="101600" lvl="0" indent="0" algn="l" rtl="0">
              <a:lnSpc>
                <a:spcPct val="150000"/>
              </a:lnSpc>
              <a:spcBef>
                <a:spcPts val="0"/>
              </a:spcBef>
              <a:spcAft>
                <a:spcPts val="0"/>
              </a:spcAft>
              <a:buSzPts val="2000"/>
              <a:buNone/>
            </a:pPr>
            <a:r>
              <a:rPr lang="en-US" sz="2000" b="1" dirty="0">
                <a:solidFill>
                  <a:srgbClr val="3C78D8"/>
                </a:solidFill>
              </a:rPr>
              <a:t>METHODS:</a:t>
            </a:r>
            <a:endParaRPr lang="en-US" sz="2000" b="1" dirty="0">
              <a:solidFill>
                <a:srgbClr val="3C78D8"/>
              </a:solidFill>
            </a:endParaRPr>
          </a:p>
          <a:p>
            <a:pPr marL="444500">
              <a:lnSpc>
                <a:spcPct val="150000"/>
              </a:lnSpc>
              <a:spcBef>
                <a:spcPts val="0"/>
              </a:spcBef>
              <a:buSzPts val="2000"/>
            </a:pPr>
            <a:r>
              <a:rPr lang="en-US" sz="2000" dirty="0"/>
              <a:t> Implemented to promote iterative development and continuous feedback. This approach allows for regular updates and adjustments based on user needs and stakeholder input, ensuring the system evolves effectively throughout the development process.</a:t>
            </a:r>
            <a:endParaRPr lang="en-US" sz="2000" dirty="0"/>
          </a:p>
          <a:p>
            <a:pPr marL="444500">
              <a:lnSpc>
                <a:spcPct val="150000"/>
              </a:lnSpc>
              <a:spcBef>
                <a:spcPts val="0"/>
              </a:spcBef>
              <a:buSzPts val="2000"/>
            </a:pPr>
            <a:r>
              <a:rPr lang="en-US" sz="2000" dirty="0"/>
              <a:t>Utilized to create a clear and standardized communication protocol between the frontend and backend. This method enables seamless interaction between components, allowing for efficient data exchange and manipulation while maintaining a scalable architecture.</a:t>
            </a:r>
            <a:endParaRPr lang="en-US" sz="2000" dirty="0"/>
          </a:p>
          <a:p>
            <a:pPr marL="0" lvl="0" indent="0" algn="l" rtl="0">
              <a:lnSpc>
                <a:spcPct val="150000"/>
              </a:lnSpc>
              <a:spcBef>
                <a:spcPts val="1000"/>
              </a:spcBef>
              <a:spcAft>
                <a:spcPts val="0"/>
              </a:spcAft>
              <a:buSzPts val="5538"/>
              <a:buNone/>
            </a:pPr>
            <a:endParaRPr lang="en-US" sz="2000" dirty="0"/>
          </a:p>
          <a:p>
            <a:pPr marL="228600" lvl="0" indent="-50800" algn="l" rtl="0">
              <a:lnSpc>
                <a:spcPct val="150000"/>
              </a:lnSpc>
              <a:spcBef>
                <a:spcPts val="1000"/>
              </a:spcBef>
              <a:spcAft>
                <a:spcPts val="0"/>
              </a:spcAft>
              <a:buClr>
                <a:schemeClr val="dk1"/>
              </a:buClr>
              <a:buSzPts val="2800"/>
              <a:buNone/>
            </a:pPr>
            <a:endParaRPr sz="2000" dirty="0"/>
          </a:p>
          <a:p>
            <a:pPr marL="228600" lvl="0" indent="-50800" algn="l" rtl="0">
              <a:lnSpc>
                <a:spcPct val="150000"/>
              </a:lnSpc>
              <a:spcBef>
                <a:spcPts val="1000"/>
              </a:spcBef>
              <a:spcAft>
                <a:spcPts val="0"/>
              </a:spcAft>
              <a:buClr>
                <a:schemeClr val="dk1"/>
              </a:buClr>
              <a:buSzPts val="2800"/>
              <a:buNone/>
            </a:pPr>
            <a:endParaRPr sz="2000" dirty="0"/>
          </a:p>
          <a:p>
            <a:pPr marL="228600" lvl="0" indent="-50800" algn="l" rtl="0">
              <a:lnSpc>
                <a:spcPct val="150000"/>
              </a:lnSpc>
              <a:spcBef>
                <a:spcPts val="1000"/>
              </a:spcBef>
              <a:spcAft>
                <a:spcPts val="0"/>
              </a:spcAft>
              <a:buClr>
                <a:schemeClr val="dk1"/>
              </a:buClr>
              <a:buSzPts val="2800"/>
              <a:buNone/>
            </a:pPr>
            <a:r>
              <a:rPr lang="en-US" sz="2000" dirty="0"/>
              <a:t> </a:t>
            </a:r>
            <a:endParaRPr sz="2000" dirty="0"/>
          </a:p>
        </p:txBody>
      </p:sp>
      <p:sp>
        <p:nvSpPr>
          <p:cNvPr id="163" name="Google Shape;16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64" name="Google Shape;16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65" name="Google Shape;16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66" name="Google Shape;166;p11"/>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CHOICE  OF  COMPONENTS  /  MODULES  / METHODS/TECHNIQUES </a:t>
            </a:r>
            <a:br>
              <a:rPr lang="en-US" sz="2400" b="1" dirty="0">
                <a:solidFill>
                  <a:srgbClr val="2F5496"/>
                </a:solidFill>
                <a:latin typeface="Cambria" panose="02040503050406030204"/>
                <a:ea typeface="Cambria" panose="02040503050406030204"/>
                <a:cs typeface="Cambria" panose="02040503050406030204"/>
                <a:sym typeface="Cambria" panose="02040503050406030204"/>
              </a:rPr>
            </a:br>
            <a:r>
              <a:rPr lang="en-US" sz="2400" b="1" dirty="0">
                <a:solidFill>
                  <a:srgbClr val="2F5496"/>
                </a:solidFill>
                <a:latin typeface="Cambria" panose="02040503050406030204"/>
                <a:ea typeface="Cambria" panose="02040503050406030204"/>
                <a:cs typeface="Cambria" panose="02040503050406030204"/>
                <a:sym typeface="Cambria" panose="02040503050406030204"/>
              </a:rPr>
              <a:t>EQUIPMENT  USED FOR  PROJECT DEVELOPMENT </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lvl="0" indent="-374650">
              <a:spcBef>
                <a:spcPts val="0"/>
              </a:spcBef>
              <a:buSzPts val="2300"/>
            </a:pPr>
            <a:r>
              <a:rPr lang="en-US" altLang="en-GB" sz="2300" dirty="0"/>
              <a:t>The system follows a client-server model where the frontend (client) interacts with the backend server to perform operations like booking, searching, and payment.</a:t>
            </a:r>
            <a:endParaRPr lang="en-US" altLang="en-GB" sz="2300" dirty="0"/>
          </a:p>
          <a:p>
            <a:pPr lvl="0" indent="-374650">
              <a:spcBef>
                <a:spcPts val="0"/>
              </a:spcBef>
              <a:buSzPts val="2300"/>
            </a:pPr>
            <a:endParaRPr lang="en-US" altLang="en-GB" sz="2300" dirty="0"/>
          </a:p>
          <a:p>
            <a:pPr lvl="0" indent="-374650">
              <a:spcBef>
                <a:spcPts val="0"/>
              </a:spcBef>
              <a:buSzPts val="2300"/>
            </a:pPr>
            <a:r>
              <a:rPr lang="en-US" altLang="en-GB" sz="2400" dirty="0"/>
              <a:t>The frontend is built using HTML, CSS, and JavaScript to create user-friendly pages for login, seat selection, and booking, accessible via a web browser</a:t>
            </a:r>
            <a:r>
              <a:rPr lang="en-US" sz="2400" dirty="0"/>
              <a:t>.</a:t>
            </a:r>
            <a:endParaRPr lang="en-US" sz="2400" dirty="0"/>
          </a:p>
          <a:p>
            <a:pPr lvl="0" indent="-374650">
              <a:spcBef>
                <a:spcPts val="0"/>
              </a:spcBef>
              <a:buSzPts val="2300"/>
            </a:pPr>
            <a:endParaRPr lang="en-US" sz="2300" dirty="0"/>
          </a:p>
          <a:p>
            <a:pPr lvl="0" indent="-374650">
              <a:spcBef>
                <a:spcPts val="0"/>
              </a:spcBef>
              <a:buSzPts val="2300"/>
            </a:pPr>
            <a:r>
              <a:rPr lang="en-US" altLang="en-GB" sz="2300" dirty="0"/>
              <a:t>The backend is developed using Flask or Django, managing routing, session handling, and implementing the business logic for reservation and admin functions.</a:t>
            </a:r>
            <a:endParaRPr lang="en-US" altLang="en-GB" sz="2300" dirty="0"/>
          </a:p>
          <a:p>
            <a:pPr lvl="0" indent="-374650">
              <a:spcBef>
                <a:spcPts val="0"/>
              </a:spcBef>
              <a:buSzPts val="2300"/>
            </a:pPr>
            <a:endParaRPr lang="en-US" altLang="en-GB" sz="2300" dirty="0"/>
          </a:p>
          <a:p>
            <a:pPr lvl="0" indent="-374650">
              <a:spcBef>
                <a:spcPts val="0"/>
              </a:spcBef>
              <a:buSzPts val="2300"/>
            </a:pPr>
            <a:r>
              <a:rPr lang="en-US" sz="2300" dirty="0"/>
              <a:t>Securely processes payments via third-party services like PayPal or local payment processors. Handles encryption, transaction confirmation, and validation.</a:t>
            </a:r>
            <a:endParaRPr lang="en-US" sz="2300" dirty="0"/>
          </a:p>
          <a:p>
            <a:pPr lvl="0" indent="-374650">
              <a:spcBef>
                <a:spcPts val="0"/>
              </a:spcBef>
              <a:buSzPts val="2300"/>
            </a:pPr>
            <a:endParaRPr lang="en-US" sz="2300" dirty="0"/>
          </a:p>
          <a:p>
            <a:pPr lvl="0" indent="-374650">
              <a:spcBef>
                <a:spcPts val="0"/>
              </a:spcBef>
              <a:buSzPts val="2300"/>
            </a:pPr>
            <a:r>
              <a:rPr lang="en-US" altLang="en-GB" sz="2300" dirty="0"/>
              <a:t>An admin panel for bus management and user monitoring is included. Security is ensured through password hashing, user authentication, and secure payment gateway integration.</a:t>
            </a:r>
            <a:endParaRPr lang="en-US" altLang="en-GB" sz="2300" dirty="0"/>
          </a:p>
        </p:txBody>
      </p:sp>
      <p:sp>
        <p:nvSpPr>
          <p:cNvPr id="172" name="Google Shape;17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73" name="Google Shape;17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74" name="Google Shape;17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75" name="Google Shape;175;p14"/>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panose="02040503050406030204"/>
              <a:buNone/>
            </a:pPr>
            <a:r>
              <a:rPr lang="en-US" sz="2400" b="1" dirty="0">
                <a:solidFill>
                  <a:srgbClr val="2F5496"/>
                </a:solidFill>
                <a:latin typeface="Cambria" panose="02040503050406030204"/>
                <a:ea typeface="Cambria" panose="02040503050406030204"/>
                <a:cs typeface="Cambria" panose="02040503050406030204"/>
                <a:sym typeface="Cambria" panose="02040503050406030204"/>
              </a:rPr>
              <a:t>DESIGN(S) (HARDWARE / SOFTWARE ARCHITECTURE) </a:t>
            </a:r>
            <a:endParaRPr sz="2400" b="1" dirty="0">
              <a:solidFill>
                <a:srgbClr val="2F5496"/>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7"/>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800"/>
              <a:buNone/>
            </a:pPr>
            <a:r>
              <a:rPr lang="en-US" b="1" dirty="0">
                <a:solidFill>
                  <a:srgbClr val="C00000"/>
                </a:solidFill>
              </a:rPr>
              <a:t>Batch Member 1 : (</a:t>
            </a:r>
            <a:r>
              <a:rPr lang="en-US" b="1" dirty="0" smtClean="0">
                <a:solidFill>
                  <a:srgbClr val="C00000"/>
                </a:solidFill>
              </a:rPr>
              <a:t>7376222AL214 – SURYA PRAKASH R)</a:t>
            </a:r>
            <a:endParaRPr lang="en-US" dirty="0"/>
          </a:p>
          <a:p>
            <a:pPr marL="514350" lvl="0" indent="-463550" algn="l" rtl="0">
              <a:lnSpc>
                <a:spcPct val="90000"/>
              </a:lnSpc>
              <a:spcBef>
                <a:spcPts val="1000"/>
              </a:spcBef>
              <a:spcAft>
                <a:spcPts val="0"/>
              </a:spcAft>
              <a:buClr>
                <a:schemeClr val="dk1"/>
              </a:buClr>
              <a:buSzPts val="2000"/>
              <a:buFont typeface="Calibri" panose="020F0502020204030204"/>
              <a:buAutoNum type="arabicPeriod"/>
            </a:pPr>
            <a:r>
              <a:rPr lang="en-IN" altLang="en-US" sz="2000" dirty="0"/>
              <a:t>Django</a:t>
            </a:r>
            <a:r>
              <a:rPr lang="en-US" sz="2000" dirty="0"/>
              <a:t>:</a:t>
            </a:r>
            <a:endParaRPr lang="en-US" sz="2000" dirty="0"/>
          </a:p>
          <a:p>
            <a:pPr lvl="0" indent="0">
              <a:buNone/>
            </a:pPr>
            <a:r>
              <a:rPr lang="en-US" sz="2000" dirty="0"/>
              <a:t>		</a:t>
            </a:r>
            <a:r>
              <a:rPr lang="en-US" altLang="en-GB" sz="2000" dirty="0"/>
              <a:t>I contributed to the development of a Django-based Bus Reservation System by working on essential modules such as views.py, models.py, and forms.py. I implemented the logic for user authentication, seat booking, and bus search functionalities. I also designed and connected database models, handled form validations, and configured routing in urls.py. Additionally, I supported the creation of reusable components, managed admin controls in admin.py, and ensured smooth system operations through testing and configuration of project settings in settings.py.</a:t>
            </a:r>
            <a:endParaRPr lang="en-US" altLang="en-GB" sz="2000" dirty="0"/>
          </a:p>
        </p:txBody>
      </p:sp>
      <p:sp>
        <p:nvSpPr>
          <p:cNvPr id="181" name="Google Shape;1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82" name="Google Shape;1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83" name="Google Shape;1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84" name="Google Shape;184;p17"/>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panose="02040503050406030204"/>
              <a:buNone/>
            </a:pPr>
            <a:r>
              <a:rPr lang="en-US" sz="2400" b="1" dirty="0">
                <a:solidFill>
                  <a:srgbClr val="0070C0"/>
                </a:solidFill>
                <a:latin typeface="Cambria" panose="02040503050406030204"/>
                <a:ea typeface="Cambria" panose="02040503050406030204"/>
                <a:cs typeface="Cambria" panose="02040503050406030204"/>
                <a:sym typeface="Cambria" panose="02040503050406030204"/>
              </a:rPr>
              <a:t>INDIVIDUAL CONTRIBUTIONS TO THE WORK </a:t>
            </a:r>
            <a:endParaRPr sz="2400" b="1" dirty="0">
              <a:solidFill>
                <a:srgbClr val="0070C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8"/>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800"/>
              <a:buNone/>
            </a:pPr>
            <a:r>
              <a:rPr lang="en-US" b="1" dirty="0">
                <a:solidFill>
                  <a:srgbClr val="C00000"/>
                </a:solidFill>
              </a:rPr>
              <a:t>Batch Member 2 : (</a:t>
            </a:r>
            <a:r>
              <a:rPr lang="en-US" b="1" dirty="0" smtClean="0">
                <a:solidFill>
                  <a:srgbClr val="C00000"/>
                </a:solidFill>
              </a:rPr>
              <a:t>7376232AL505 </a:t>
            </a:r>
            <a:r>
              <a:rPr lang="en-US" b="1" dirty="0">
                <a:solidFill>
                  <a:srgbClr val="C00000"/>
                </a:solidFill>
              </a:rPr>
              <a:t>– </a:t>
            </a:r>
            <a:r>
              <a:rPr lang="en-US" b="1" dirty="0" smtClean="0">
                <a:solidFill>
                  <a:srgbClr val="C00000"/>
                </a:solidFill>
              </a:rPr>
              <a:t>LOGESHRAJA M</a:t>
            </a:r>
            <a:r>
              <a:rPr lang="en-US" b="1" dirty="0" smtClean="0">
                <a:solidFill>
                  <a:srgbClr val="C00000"/>
                </a:solidFill>
              </a:rPr>
              <a:t>)</a:t>
            </a:r>
            <a:endParaRPr dirty="0"/>
          </a:p>
          <a:p>
            <a:pPr marL="514350" lvl="0" indent="-463550" algn="l" rtl="0">
              <a:lnSpc>
                <a:spcPct val="90000"/>
              </a:lnSpc>
              <a:spcBef>
                <a:spcPts val="1000"/>
              </a:spcBef>
              <a:spcAft>
                <a:spcPts val="0"/>
              </a:spcAft>
              <a:buClr>
                <a:schemeClr val="dk1"/>
              </a:buClr>
              <a:buSzPts val="2000"/>
              <a:buFont typeface="Calibri" panose="020F0502020204030204"/>
              <a:buAutoNum type="arabicPeriod"/>
            </a:pPr>
            <a:r>
              <a:rPr lang="en-US" sz="2000" dirty="0"/>
              <a:t>Frontend:</a:t>
            </a:r>
            <a:endParaRPr sz="2000" dirty="0"/>
          </a:p>
          <a:p>
            <a:pPr lvl="0" indent="0">
              <a:buNone/>
            </a:pPr>
            <a:r>
              <a:rPr lang="en-US" sz="2000" dirty="0"/>
              <a:t>	</a:t>
            </a:r>
            <a:r>
              <a:rPr lang="en-US" altLang="en-GB" sz="2000" dirty="0"/>
              <a:t>I contributed to the frontend of the Bus Reservation System by designing and developing responsive HTML pages for user signup, login, bus search, seat selection, and booking confirmation. I used structured HTML5 elements to ensure semantic clarity and accessibility. Each page was integrated with backend views for dynamic data display. I also created clean and user-friendly layouts, aligning with modern web design practices. My HTML work played a key role in providing intuitive navigation and seamless user experience across the platform.</a:t>
            </a:r>
            <a:endParaRPr lang="en-US" altLang="en-GB" sz="2000" dirty="0"/>
          </a:p>
        </p:txBody>
      </p:sp>
      <p:sp>
        <p:nvSpPr>
          <p:cNvPr id="190" name="Google Shape;19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191" name="Google Shape;19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192" name="Google Shape;19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193" name="Google Shape;193;p18"/>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panose="02040503050406030204"/>
              <a:buNone/>
            </a:pPr>
            <a:r>
              <a:rPr lang="en-US" sz="2400" b="1">
                <a:solidFill>
                  <a:srgbClr val="0070C0"/>
                </a:solidFill>
                <a:latin typeface="Cambria" panose="02040503050406030204"/>
                <a:ea typeface="Cambria" panose="02040503050406030204"/>
                <a:cs typeface="Cambria" panose="02040503050406030204"/>
                <a:sym typeface="Cambria" panose="02040503050406030204"/>
              </a:rPr>
              <a:t>INDIVIDUAL CONTRIBUTIONS TO THE WORK </a:t>
            </a:r>
            <a:endParaRPr sz="2400" b="1">
              <a:solidFill>
                <a:srgbClr val="0070C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9"/>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800"/>
              <a:buNone/>
            </a:pPr>
            <a:r>
              <a:rPr lang="en-US" b="1" dirty="0">
                <a:solidFill>
                  <a:srgbClr val="C00000"/>
                </a:solidFill>
              </a:rPr>
              <a:t>Batch Member 3 : (</a:t>
            </a:r>
            <a:r>
              <a:rPr lang="en-US" b="1" dirty="0" smtClean="0">
                <a:solidFill>
                  <a:srgbClr val="C00000"/>
                </a:solidFill>
              </a:rPr>
              <a:t>7376221ME149 </a:t>
            </a:r>
            <a:r>
              <a:rPr lang="en-US" b="1" dirty="0">
                <a:solidFill>
                  <a:srgbClr val="C00000"/>
                </a:solidFill>
              </a:rPr>
              <a:t>- </a:t>
            </a:r>
            <a:r>
              <a:rPr lang="en-US" b="1" dirty="0" smtClean="0">
                <a:solidFill>
                  <a:srgbClr val="C00000"/>
                </a:solidFill>
              </a:rPr>
              <a:t>SURENTHIRAN S</a:t>
            </a:r>
            <a:r>
              <a:rPr lang="en-US" b="1" dirty="0" smtClean="0">
                <a:solidFill>
                  <a:srgbClr val="C00000"/>
                </a:solidFill>
              </a:rPr>
              <a:t>)</a:t>
            </a:r>
            <a:endParaRPr b="1" dirty="0">
              <a:solidFill>
                <a:srgbClr val="C00000"/>
              </a:solidFill>
            </a:endParaRPr>
          </a:p>
          <a:p>
            <a:pPr marL="514350" lvl="0" indent="-463550" algn="l" rtl="0">
              <a:lnSpc>
                <a:spcPct val="90000"/>
              </a:lnSpc>
              <a:spcBef>
                <a:spcPts val="1000"/>
              </a:spcBef>
              <a:spcAft>
                <a:spcPts val="0"/>
              </a:spcAft>
              <a:buClr>
                <a:schemeClr val="dk1"/>
              </a:buClr>
              <a:buSzPts val="2000"/>
              <a:buFont typeface="Calibri" panose="020F0502020204030204"/>
              <a:buAutoNum type="arabicPeriod"/>
            </a:pPr>
            <a:r>
              <a:rPr lang="en-US" sz="2000" dirty="0"/>
              <a:t>Database:</a:t>
            </a:r>
            <a:endParaRPr sz="2000" dirty="0"/>
          </a:p>
          <a:p>
            <a:pPr lvl="0" indent="0">
              <a:buNone/>
            </a:pPr>
            <a:r>
              <a:rPr lang="en-US" sz="2000" dirty="0"/>
              <a:t>	</a:t>
            </a:r>
            <a:r>
              <a:rPr lang="en-US" altLang="en-GB" sz="2000" dirty="0"/>
              <a:t>I contributed to the UI/UX design of the Bus Reservation System using Figma by creating interactive wireframes and high-fidelity prototypes for key pages such as login, bus search, seat selection, and booking confirmation. I focused on user flow, layout structure, visual hierarchy, and responsiveness. Components and styles were designed consistently for reusability. I also collaborated with the development team by sharing design specs and assets, ensuring smooth implementation of the Figma prototypes into the actual frontend application.</a:t>
            </a:r>
            <a:endParaRPr lang="en-US" altLang="en-GB" dirty="0"/>
          </a:p>
          <a:p>
            <a:pPr lvl="0" indent="0">
              <a:buNone/>
            </a:pPr>
            <a:endParaRPr lang="en-US" altLang="en-GB" dirty="0"/>
          </a:p>
          <a:p>
            <a:pPr lvl="0" indent="0">
              <a:buNone/>
            </a:pPr>
            <a:endParaRPr lang="en-US" altLang="en-GB" dirty="0"/>
          </a:p>
          <a:p>
            <a:pPr lvl="0" indent="0">
              <a:buNone/>
            </a:pPr>
            <a:endParaRPr lang="en-US" altLang="en-GB" dirty="0"/>
          </a:p>
          <a:p>
            <a:pPr lvl="0" indent="0">
              <a:buNone/>
            </a:pPr>
            <a:endParaRPr lang="en-US" altLang="en-GB" dirty="0"/>
          </a:p>
          <a:p>
            <a:pPr lvl="0" indent="0">
              <a:buNone/>
            </a:pPr>
            <a:endParaRPr lang="en-US" altLang="en-GB" dirty="0"/>
          </a:p>
          <a:p>
            <a:pPr lvl="0" indent="0">
              <a:buNone/>
            </a:pPr>
            <a:endParaRPr lang="en-US" altLang="en-GB" dirty="0"/>
          </a:p>
          <a:p>
            <a:pPr lvl="0" indent="0">
              <a:buNone/>
            </a:pPr>
            <a:endParaRPr lang="en-US" altLang="en-GB" dirty="0"/>
          </a:p>
          <a:p>
            <a:pPr lvl="0" indent="0">
              <a:buNone/>
            </a:pPr>
            <a:endParaRPr lang="en-US" altLang="en-GB" dirty="0"/>
          </a:p>
        </p:txBody>
      </p:sp>
      <p:sp>
        <p:nvSpPr>
          <p:cNvPr id="199" name="Google Shape;19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200" name="Google Shape;20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201" name="Google Shape;20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panose="02040503050406030204"/>
              <a:buNone/>
            </a:pPr>
            <a:r>
              <a:rPr lang="en-US" sz="2400" b="1">
                <a:solidFill>
                  <a:srgbClr val="0070C0"/>
                </a:solidFill>
                <a:latin typeface="Cambria" panose="02040503050406030204"/>
                <a:ea typeface="Cambria" panose="02040503050406030204"/>
                <a:cs typeface="Cambria" panose="02040503050406030204"/>
                <a:sym typeface="Cambria" panose="02040503050406030204"/>
              </a:rPr>
              <a:t>INDIVIDUAL CONTRIBUTIONS TO THE WORK </a:t>
            </a:r>
            <a:endParaRPr sz="2400" b="1">
              <a:solidFill>
                <a:srgbClr val="0070C0"/>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2"/>
          <p:cNvSpPr txBox="1">
            <a:spLocks noGrp="1"/>
          </p:cNvSpPr>
          <p:nvPr>
            <p:ph type="title"/>
          </p:nvPr>
        </p:nvSpPr>
        <p:spPr>
          <a:xfrm>
            <a:off x="838200" y="0"/>
            <a:ext cx="10515600" cy="526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2400"/>
              <a:buFont typeface="Cambria" panose="02040503050406030204"/>
              <a:buNone/>
            </a:pPr>
            <a:r>
              <a:rPr lang="en-US" sz="2400" b="1">
                <a:solidFill>
                  <a:srgbClr val="0070C0"/>
                </a:solidFill>
                <a:latin typeface="Cambria" panose="02040503050406030204"/>
                <a:ea typeface="Cambria" panose="02040503050406030204"/>
                <a:cs typeface="Cambria" panose="02040503050406030204"/>
                <a:sym typeface="Cambria" panose="02040503050406030204"/>
              </a:rPr>
              <a:t>Status on Partial Completion and Submission of Project Report</a:t>
            </a:r>
            <a:endParaRPr sz="2400" b="1">
              <a:solidFill>
                <a:srgbClr val="0070C0"/>
              </a:solidFill>
              <a:latin typeface="Cambria" panose="02040503050406030204"/>
              <a:ea typeface="Cambria" panose="02040503050406030204"/>
              <a:cs typeface="Cambria" panose="02040503050406030204"/>
              <a:sym typeface="Cambria" panose="02040503050406030204"/>
            </a:endParaRPr>
          </a:p>
        </p:txBody>
      </p:sp>
      <p:sp>
        <p:nvSpPr>
          <p:cNvPr id="235" name="Google Shape;235;p22"/>
          <p:cNvSpPr txBox="1">
            <a:spLocks noGrp="1"/>
          </p:cNvSpPr>
          <p:nvPr>
            <p:ph type="body" idx="1"/>
          </p:nvPr>
        </p:nvSpPr>
        <p:spPr>
          <a:xfrm>
            <a:off x="838200" y="388850"/>
            <a:ext cx="10515600" cy="4491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85623"/>
              </a:buClr>
              <a:buSzPts val="2800"/>
              <a:buNone/>
            </a:pPr>
            <a:r>
              <a:rPr lang="en-US" b="1">
                <a:solidFill>
                  <a:srgbClr val="385623"/>
                </a:solidFill>
              </a:rPr>
              <a:t>List of Documents to be Submitted </a:t>
            </a:r>
            <a:endParaRPr sz="2000">
              <a:solidFill>
                <a:srgbClr val="385623"/>
              </a:solidFill>
            </a:endParaRPr>
          </a:p>
          <a:p>
            <a:pPr marL="0" lvl="0" indent="0" algn="l" rtl="0">
              <a:lnSpc>
                <a:spcPct val="90000"/>
              </a:lnSpc>
              <a:spcBef>
                <a:spcPts val="1000"/>
              </a:spcBef>
              <a:spcAft>
                <a:spcPts val="0"/>
              </a:spcAft>
              <a:buClr>
                <a:schemeClr val="dk1"/>
              </a:buClr>
              <a:buSzPts val="2800"/>
              <a:buNone/>
            </a:pPr>
          </a:p>
          <a:p>
            <a:pPr marL="228600" lvl="0" indent="-50800" algn="l" rtl="0">
              <a:lnSpc>
                <a:spcPct val="90000"/>
              </a:lnSpc>
              <a:spcBef>
                <a:spcPts val="1000"/>
              </a:spcBef>
              <a:spcAft>
                <a:spcPts val="0"/>
              </a:spcAft>
              <a:buClr>
                <a:schemeClr val="dk1"/>
              </a:buClr>
              <a:buSzPts val="2800"/>
              <a:buNone/>
            </a:pPr>
          </a:p>
          <a:p>
            <a:pPr marL="228600" lvl="0" indent="-50800" algn="l" rtl="0">
              <a:lnSpc>
                <a:spcPct val="90000"/>
              </a:lnSpc>
              <a:spcBef>
                <a:spcPts val="1000"/>
              </a:spcBef>
              <a:spcAft>
                <a:spcPts val="0"/>
              </a:spcAft>
              <a:buClr>
                <a:schemeClr val="dk1"/>
              </a:buClr>
              <a:buSzPts val="2800"/>
              <a:buNone/>
            </a:pPr>
          </a:p>
        </p:txBody>
      </p:sp>
      <p:sp>
        <p:nvSpPr>
          <p:cNvPr id="236" name="Google Shape;23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IN" altLang="en-US" sz="1800" b="1" dirty="0">
                <a:solidFill>
                  <a:srgbClr val="385623"/>
                </a:solidFill>
              </a:rPr>
              <a:t>11</a:t>
            </a:r>
            <a:r>
              <a:rPr lang="en-US" sz="1800" b="1" dirty="0">
                <a:solidFill>
                  <a:srgbClr val="385623"/>
                </a:solidFill>
              </a:rPr>
              <a:t>-</a:t>
            </a:r>
            <a:r>
              <a:rPr lang="en-IN" altLang="en-US" sz="1800" b="1" dirty="0">
                <a:solidFill>
                  <a:srgbClr val="385623"/>
                </a:solidFill>
              </a:rPr>
              <a:t>04</a:t>
            </a:r>
            <a:r>
              <a:rPr lang="en-US" sz="1800" b="1" dirty="0">
                <a:solidFill>
                  <a:srgbClr val="385623"/>
                </a:solidFill>
              </a:rPr>
              <a:t>-202</a:t>
            </a:r>
            <a:r>
              <a:rPr lang="en-IN" altLang="en-US" sz="1800" b="1" dirty="0">
                <a:solidFill>
                  <a:srgbClr val="385623"/>
                </a:solidFill>
              </a:rPr>
              <a:t>5</a:t>
            </a:r>
            <a:endParaRPr lang="en-IN" altLang="en-US" sz="1800" b="1" dirty="0">
              <a:solidFill>
                <a:srgbClr val="385623"/>
              </a:solidFill>
            </a:endParaRPr>
          </a:p>
        </p:txBody>
      </p:sp>
      <p:sp>
        <p:nvSpPr>
          <p:cNvPr id="237" name="Google Shape;23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238" name="Google Shape;23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graphicFrame>
        <p:nvGraphicFramePr>
          <p:cNvPr id="239" name="Google Shape;239;p22"/>
          <p:cNvGraphicFramePr/>
          <p:nvPr>
            <p:custDataLst>
              <p:tags r:id="rId1"/>
            </p:custDataLst>
          </p:nvPr>
        </p:nvGraphicFramePr>
        <p:xfrm>
          <a:off x="889635" y="829310"/>
          <a:ext cx="10166985" cy="5330825"/>
        </p:xfrm>
        <a:graphic>
          <a:graphicData uri="http://schemas.openxmlformats.org/drawingml/2006/table">
            <a:tbl>
              <a:tblPr firstRow="1" bandRow="1">
                <a:noFill/>
                <a:tableStyleId>{1D136F4F-A28D-4FD5-A047-323B083E55CD}</a:tableStyleId>
              </a:tblPr>
              <a:tblGrid>
                <a:gridCol w="957580"/>
                <a:gridCol w="3153410"/>
                <a:gridCol w="6055995"/>
              </a:tblGrid>
              <a:tr h="56705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SL.No</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List of Documents</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t>Status ( Provide the drive link of prepared document)</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1440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1</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dirty="0">
                          <a:solidFill>
                            <a:srgbClr val="7030A0"/>
                          </a:solidFill>
                        </a:rPr>
                        <a:t>Cover Page &amp; Title Page (Both are in same format) </a:t>
                      </a:r>
                      <a:endParaRPr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sng" dirty="0" smtClean="0">
                          <a:solidFill>
                            <a:schemeClr val="hlink"/>
                          </a:solidFill>
                        </a:rPr>
                        <a:t>https://docs.google.com/document/d/1--lZ-vVMWIjvNcNimxYd2jlLn8yo_gQpLuL_SudZl8M/edit?usp=sharing</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1026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2</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a:solidFill>
                            <a:srgbClr val="7030A0"/>
                          </a:solidFill>
                        </a:rPr>
                        <a:t>Bonafide Certificate</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sng" dirty="0" smtClean="0">
                          <a:solidFill>
                            <a:schemeClr val="hlink"/>
                          </a:solidFill>
                        </a:rPr>
                        <a:t>https://docs.google.com/document/d/1BGag1i8ffYDWO207HPobU5eHiDi9lrZ4o60X6nDkQnM/edit?usp=sharing</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4455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dirty="0"/>
                        <a:t>3</a:t>
                      </a:r>
                      <a:endParaRPr sz="18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a:solidFill>
                            <a:srgbClr val="7030A0"/>
                          </a:solidFill>
                        </a:rPr>
                        <a:t>Declaration</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sng" dirty="0" smtClean="0">
                          <a:solidFill>
                            <a:schemeClr val="hlink"/>
                          </a:solidFill>
                        </a:rPr>
                        <a:t>https://docs.google.com/document/d/1ZPSTQPQ86HvvCtJAhaPAdZa4Bz1QUk9XBm53U34xlG8/edit?usp=sharing</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1440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4</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a:solidFill>
                            <a:srgbClr val="7030A0"/>
                          </a:solidFill>
                        </a:rPr>
                        <a:t>Acknowledgement</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u="sng" dirty="0" smtClean="0">
                          <a:solidFill>
                            <a:schemeClr val="hlink"/>
                          </a:solidFill>
                        </a:rPr>
                        <a:t>https://docs.google.com/document/d/1eH539EG4mcRzmoEmCQzsAXOzzd0ELIDmGbNW75PxiZw/edit?usp=sharing</a:t>
                      </a:r>
                      <a:endParaRPr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64008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5</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a:solidFill>
                            <a:srgbClr val="7030A0"/>
                          </a:solidFill>
                        </a:rPr>
                        <a:t>Chapter I – Introduction</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altLang="en-GB" sz="1800" u="none" strike="noStrike" cap="none" dirty="0">
                          <a:hlinkClick r:id="rId2" action="ppaction://hlinkfile"/>
                        </a:rPr>
                        <a:t>https://drive.google.com/file/d/1_Hzr9sczd-riKnhiAl0_0N0phZqXhyNM/view?usp=sharing</a:t>
                      </a:r>
                      <a:endParaRPr lang="en-US" altLang="en-GB"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640080">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u="none" strike="noStrike" cap="none"/>
                        <a:t>6</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2" indent="0" algn="l" rtl="0">
                        <a:lnSpc>
                          <a:spcPct val="100000"/>
                        </a:lnSpc>
                        <a:spcBef>
                          <a:spcPts val="0"/>
                        </a:spcBef>
                        <a:spcAft>
                          <a:spcPts val="0"/>
                        </a:spcAft>
                        <a:buClr>
                          <a:srgbClr val="7030A0"/>
                        </a:buClr>
                        <a:buSzPts val="2400"/>
                        <a:buFont typeface="Calibri" panose="020F0502020204030204"/>
                        <a:buNone/>
                      </a:pPr>
                      <a:r>
                        <a:rPr lang="en-US" sz="1800" u="none" strike="noStrike" cap="none">
                          <a:solidFill>
                            <a:srgbClr val="7030A0"/>
                          </a:solidFill>
                        </a:rPr>
                        <a:t>Chapter 2 – Literature Survey</a:t>
                      </a: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altLang="en-GB" sz="1800" u="none" strike="noStrike" cap="none" dirty="0">
                          <a:hlinkClick r:id="rId3" action="ppaction://hlinkfile"/>
                        </a:rPr>
                        <a:t>https://drive.google.com/file/d/1T-kuB3iLZNqTTlPDRvG4vjNPTMKj3_vL/view?usp=sharing</a:t>
                      </a:r>
                      <a:endParaRPr lang="en-US" altLang="en-GB"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937385"/>
            <a:ext cx="10515600" cy="4351338"/>
          </a:xfrm>
        </p:spPr>
        <p:txBody>
          <a:bodyPr/>
          <a:lstStyle/>
          <a:p>
            <a:pPr marL="114300" indent="0">
              <a:buNone/>
            </a:pPr>
            <a:r>
              <a:rPr lang="en-US" dirty="0"/>
              <a:t> </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graphicFrame>
        <p:nvGraphicFramePr>
          <p:cNvPr id="9" name="Table 8"/>
          <p:cNvGraphicFramePr>
            <a:graphicFrameLocks noGrp="1"/>
          </p:cNvGraphicFramePr>
          <p:nvPr>
            <p:custDataLst>
              <p:tags r:id="rId1"/>
            </p:custDataLst>
          </p:nvPr>
        </p:nvGraphicFramePr>
        <p:xfrm>
          <a:off x="534035" y="985520"/>
          <a:ext cx="10610215" cy="5443855"/>
        </p:xfrm>
        <a:graphic>
          <a:graphicData uri="http://schemas.openxmlformats.org/drawingml/2006/table">
            <a:tbl>
              <a:tblPr/>
              <a:tblGrid>
                <a:gridCol w="1038860"/>
                <a:gridCol w="6034405"/>
                <a:gridCol w="3536950"/>
              </a:tblGrid>
              <a:tr h="555625">
                <a:tc>
                  <a:txBody>
                    <a:bodyPr/>
                    <a:lstStyle/>
                    <a:p>
                      <a:pPr rtl="0" fontAlgn="t">
                        <a:spcBef>
                          <a:spcPts val="0"/>
                        </a:spcBef>
                        <a:spcAft>
                          <a:spcPts val="0"/>
                        </a:spcAft>
                      </a:pPr>
                      <a:r>
                        <a:rPr lang="en-US" sz="1500" b="1" i="0" u="none" strike="noStrike">
                          <a:solidFill>
                            <a:srgbClr val="FFFFFF"/>
                          </a:solidFill>
                          <a:effectLst/>
                          <a:latin typeface="Calibri" panose="020F0502020204030204" pitchFamily="34" charset="0"/>
                        </a:rPr>
                        <a:t>SL.No</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5B9BD5"/>
                    </a:solidFill>
                  </a:tcPr>
                </a:tc>
                <a:tc>
                  <a:txBody>
                    <a:bodyPr/>
                    <a:lstStyle/>
                    <a:p>
                      <a:pPr rtl="0" fontAlgn="t">
                        <a:spcBef>
                          <a:spcPts val="0"/>
                        </a:spcBef>
                        <a:spcAft>
                          <a:spcPts val="0"/>
                        </a:spcAft>
                      </a:pPr>
                      <a:r>
                        <a:rPr lang="en-US" sz="1500" b="1" i="0" u="none" strike="noStrike">
                          <a:solidFill>
                            <a:srgbClr val="FFFFFF"/>
                          </a:solidFill>
                          <a:effectLst/>
                          <a:latin typeface="Calibri" panose="020F0502020204030204" pitchFamily="34" charset="0"/>
                        </a:rPr>
                        <a:t>List of Documents</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5B9BD5"/>
                    </a:solidFill>
                  </a:tcPr>
                </a:tc>
                <a:tc>
                  <a:txBody>
                    <a:bodyPr/>
                    <a:lstStyle/>
                    <a:p>
                      <a:pPr rtl="0" fontAlgn="t">
                        <a:spcBef>
                          <a:spcPts val="0"/>
                        </a:spcBef>
                        <a:spcAft>
                          <a:spcPts val="0"/>
                        </a:spcAft>
                      </a:pPr>
                      <a:r>
                        <a:rPr lang="en-US" sz="1500" b="1" i="0" u="none" strike="noStrike">
                          <a:solidFill>
                            <a:srgbClr val="FFFFFF"/>
                          </a:solidFill>
                          <a:effectLst/>
                          <a:latin typeface="Calibri" panose="020F0502020204030204" pitchFamily="34" charset="0"/>
                        </a:rPr>
                        <a:t>Status ( Provide the drive link of prepared document)</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5B9BD5"/>
                    </a:solidFill>
                  </a:tcPr>
                </a:tc>
              </a:tr>
              <a:tr h="970280">
                <a:tc>
                  <a:txBody>
                    <a:bodyPr/>
                    <a:lstStyle/>
                    <a:p>
                      <a:pPr algn="l" rtl="0" fontAlgn="t">
                        <a:spcBef>
                          <a:spcPts val="0"/>
                        </a:spcBef>
                        <a:spcAft>
                          <a:spcPts val="0"/>
                        </a:spcAft>
                      </a:pPr>
                      <a:r>
                        <a:rPr lang="en-US" sz="1500" b="0" i="0" u="none" strike="noStrike" dirty="0">
                          <a:solidFill>
                            <a:srgbClr val="000000"/>
                          </a:solidFill>
                          <a:effectLst/>
                          <a:latin typeface="Calibri" panose="020F0502020204030204" pitchFamily="34" charset="0"/>
                        </a:rPr>
                        <a:t>      7</a:t>
                      </a:r>
                      <a:endParaRPr lang="en-US" sz="12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rtl="0" fontAlgn="t">
                        <a:spcBef>
                          <a:spcPts val="0"/>
                        </a:spcBef>
                        <a:spcAft>
                          <a:spcPts val="0"/>
                        </a:spcAft>
                      </a:pPr>
                      <a:r>
                        <a:rPr lang="en-US" sz="2000" b="0" i="0" u="none" strike="noStrike">
                          <a:solidFill>
                            <a:srgbClr val="7030A0"/>
                          </a:solidFill>
                          <a:effectLst/>
                          <a:latin typeface="Calibri" panose="020F0502020204030204" pitchFamily="34" charset="0"/>
                        </a:rPr>
                        <a:t>Chapters 3 - Objectives and Methodology</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sz="1200" dirty="0">
                          <a:effectLst/>
                        </a:rPr>
                        <a:t> </a:t>
                      </a:r>
                      <a:r>
                        <a:rPr lang="en-US" altLang="en-GB" sz="1600" dirty="0">
                          <a:effectLst/>
                          <a:hlinkClick r:id="rId2" tooltip="" action="ppaction://hlinkfile"/>
                        </a:rPr>
                        <a:t>https://drive.google.com/file/d/1xD1EaaGDGHawb1ND1YAnMq-W7yXaotoV/view?usp=sharing</a:t>
                      </a:r>
                      <a:endParaRPr lang="en-US" altLang="en-GB"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r>
              <a:tr h="783590">
                <a:tc>
                  <a:txBody>
                    <a:bodyPr/>
                    <a:lstStyle/>
                    <a:p>
                      <a:pPr algn="l" rtl="0" fontAlgn="ctr">
                        <a:spcBef>
                          <a:spcPts val="0"/>
                        </a:spcBef>
                        <a:spcAft>
                          <a:spcPts val="0"/>
                        </a:spcAft>
                      </a:pPr>
                      <a:r>
                        <a:rPr lang="en-US" sz="1500" b="0" i="0" u="none" strike="noStrike" dirty="0">
                          <a:solidFill>
                            <a:srgbClr val="000000"/>
                          </a:solidFill>
                          <a:effectLst/>
                          <a:latin typeface="Calibri" panose="020F0502020204030204" pitchFamily="34" charset="0"/>
                        </a:rPr>
                        <a:t>      8</a:t>
                      </a:r>
                      <a:endParaRPr lang="en-US" sz="1200" dirty="0">
                        <a:effectLst/>
                      </a:endParaRPr>
                    </a:p>
                  </a:txBody>
                  <a:tcPr marL="52224" marR="52224" marT="26112" marB="26112" anchor="ctr">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E9EFF7"/>
                    </a:solidFill>
                  </a:tcPr>
                </a:tc>
                <a:tc>
                  <a:txBody>
                    <a:bodyPr/>
                    <a:lstStyle/>
                    <a:p>
                      <a:pPr rtl="0" fontAlgn="t">
                        <a:spcBef>
                          <a:spcPts val="0"/>
                        </a:spcBef>
                        <a:spcAft>
                          <a:spcPts val="0"/>
                        </a:spcAft>
                      </a:pPr>
                      <a:r>
                        <a:rPr lang="en-US" sz="2000" b="0" i="0" u="none" strike="noStrike" dirty="0">
                          <a:solidFill>
                            <a:srgbClr val="7030A0"/>
                          </a:solidFill>
                          <a:effectLst/>
                          <a:latin typeface="Calibri" panose="020F0502020204030204" pitchFamily="34" charset="0"/>
                        </a:rPr>
                        <a:t>Chapters 4 - Proposed work modules (Chapters name can be based on the work)</a:t>
                      </a:r>
                      <a:endParaRPr lang="en-US" sz="12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sz="1200" dirty="0">
                          <a:effectLst/>
                        </a:rPr>
                        <a:t> </a:t>
                      </a:r>
                      <a:r>
                        <a:rPr lang="en-US" altLang="en-GB" sz="1600" dirty="0">
                          <a:effectLst/>
                          <a:hlinkClick r:id="rId3" tooltip="" action="ppaction://hlinkfile"/>
                        </a:rPr>
                        <a:t>https://drive.google.com/file/d/1mK0RqgjjTiLIWB7SUcU5EFy5t2x7Fsaj/view?usp=sharing</a:t>
                      </a:r>
                      <a:endParaRPr lang="en-US" altLang="en-GB"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E9EFF7"/>
                    </a:solidFill>
                  </a:tcPr>
                </a:tc>
              </a:tr>
              <a:tr h="783590">
                <a:tc>
                  <a:txBody>
                    <a:bodyPr/>
                    <a:lstStyle/>
                    <a:p>
                      <a:pPr algn="l" rtl="0" fontAlgn="ctr">
                        <a:spcBef>
                          <a:spcPts val="0"/>
                        </a:spcBef>
                        <a:spcAft>
                          <a:spcPts val="0"/>
                        </a:spcAft>
                      </a:pPr>
                      <a:r>
                        <a:rPr lang="en-US" sz="1500" b="0" i="0" u="none" strike="noStrike" dirty="0">
                          <a:solidFill>
                            <a:srgbClr val="000000"/>
                          </a:solidFill>
                          <a:effectLst/>
                          <a:latin typeface="Calibri" panose="020F0502020204030204" pitchFamily="34" charset="0"/>
                        </a:rPr>
                        <a:t>       9</a:t>
                      </a:r>
                      <a:endParaRPr lang="en-US" sz="1200" dirty="0">
                        <a:effectLst/>
                      </a:endParaRPr>
                    </a:p>
                  </a:txBody>
                  <a:tcPr marL="52224" marR="52224" marT="26112" marB="26112" anchor="ctr">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rtl="0" fontAlgn="t">
                        <a:spcBef>
                          <a:spcPts val="0"/>
                        </a:spcBef>
                        <a:spcAft>
                          <a:spcPts val="0"/>
                        </a:spcAft>
                      </a:pPr>
                      <a:r>
                        <a:rPr lang="en-US" sz="2000" b="0" i="0" u="none" strike="noStrike">
                          <a:solidFill>
                            <a:srgbClr val="7030A0"/>
                          </a:solidFill>
                          <a:effectLst/>
                          <a:latin typeface="Calibri" panose="020F0502020204030204" pitchFamily="34" charset="0"/>
                        </a:rPr>
                        <a:t>Chapter 5 - Results and Discussion</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altLang="en-GB" sz="1600" dirty="0">
                          <a:effectLst/>
                          <a:hlinkClick r:id="rId3" tooltip="" action="ppaction://hlinkfile"/>
                        </a:rPr>
                        <a:t>https://drive.google.com/file/d/1mK0RqgjjTiLIWB7SUcU5EFy5t2x7Fsaj/view?usp=sharing</a:t>
                      </a:r>
                      <a:endParaRPr lang="en-US" altLang="en-GB"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r>
              <a:tr h="783590">
                <a:tc>
                  <a:txBody>
                    <a:bodyPr/>
                    <a:lstStyle/>
                    <a:p>
                      <a:pPr rtl="0" fontAlgn="t">
                        <a:spcBef>
                          <a:spcPts val="0"/>
                        </a:spcBef>
                        <a:spcAft>
                          <a:spcPts val="0"/>
                        </a:spcAft>
                      </a:pPr>
                      <a:r>
                        <a:rPr lang="en-US" sz="1500" b="0" i="0" u="none" strike="noStrike" dirty="0">
                          <a:solidFill>
                            <a:srgbClr val="000000"/>
                          </a:solidFill>
                          <a:effectLst/>
                          <a:latin typeface="Calibri" panose="020F0502020204030204" pitchFamily="34" charset="0"/>
                        </a:rPr>
                        <a:t>      10 </a:t>
                      </a:r>
                      <a:endParaRPr lang="en-US" sz="12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rtl="0" fontAlgn="t">
                        <a:spcBef>
                          <a:spcPts val="0"/>
                        </a:spcBef>
                        <a:spcAft>
                          <a:spcPts val="0"/>
                        </a:spcAft>
                      </a:pPr>
                      <a:r>
                        <a:rPr lang="en-US" sz="2000" b="0" i="0" u="none" strike="noStrike" dirty="0">
                          <a:solidFill>
                            <a:srgbClr val="7030A0"/>
                          </a:solidFill>
                          <a:effectLst/>
                          <a:latin typeface="Calibri" panose="020F0502020204030204" pitchFamily="34" charset="0"/>
                        </a:rPr>
                        <a:t>Chapters 6 - Conclusions &amp; Suggestions for Future work</a:t>
                      </a:r>
                      <a:endParaRPr lang="en-US" sz="12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sz="1200" dirty="0">
                          <a:effectLst/>
                        </a:rPr>
                        <a:t> </a:t>
                      </a:r>
                      <a:r>
                        <a:rPr lang="en-US" sz="1600" dirty="0">
                          <a:effectLst/>
                          <a:sym typeface="+mn-ea"/>
                          <a:hlinkClick r:id="rId4" tooltip="" action="ppaction://hlinkfile"/>
                        </a:rPr>
                        <a:t> https://drive.google.com/file/d/18YyiG87zAGGTDbISrZJb3xwDSg7v5wjf/view?usp=drive_link</a:t>
                      </a:r>
                      <a:endParaRPr lang="en-US"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E9EFF7"/>
                    </a:solidFill>
                  </a:tcPr>
                </a:tc>
              </a:tr>
              <a:tr h="783590">
                <a:tc>
                  <a:txBody>
                    <a:bodyPr/>
                    <a:lstStyle/>
                    <a:p>
                      <a:pPr algn="l" rtl="0" fontAlgn="ctr">
                        <a:spcBef>
                          <a:spcPts val="0"/>
                        </a:spcBef>
                        <a:spcAft>
                          <a:spcPts val="0"/>
                        </a:spcAft>
                      </a:pPr>
                      <a:r>
                        <a:rPr lang="en-US" sz="1500" b="0" i="0" u="none" strike="noStrike" dirty="0">
                          <a:solidFill>
                            <a:srgbClr val="000000"/>
                          </a:solidFill>
                          <a:effectLst/>
                          <a:latin typeface="Calibri" panose="020F0502020204030204" pitchFamily="34" charset="0"/>
                        </a:rPr>
                        <a:t>      11</a:t>
                      </a:r>
                      <a:endParaRPr lang="en-US" sz="1200" dirty="0">
                        <a:effectLst/>
                      </a:endParaRPr>
                    </a:p>
                  </a:txBody>
                  <a:tcPr marL="52224" marR="52224" marT="26112" marB="26112" anchor="ctr">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rtl="0" fontAlgn="t">
                        <a:spcBef>
                          <a:spcPts val="0"/>
                        </a:spcBef>
                        <a:spcAft>
                          <a:spcPts val="0"/>
                        </a:spcAft>
                      </a:pPr>
                      <a:r>
                        <a:rPr lang="en-US" sz="2000" b="0" i="0" u="none" strike="noStrike">
                          <a:solidFill>
                            <a:srgbClr val="7030A0"/>
                          </a:solidFill>
                          <a:effectLst/>
                          <a:latin typeface="Calibri" panose="020F0502020204030204" pitchFamily="34" charset="0"/>
                        </a:rPr>
                        <a:t>References</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sz="1200" dirty="0">
                          <a:effectLst/>
                          <a:hlinkClick r:id="rId5" tooltip="" action="ppaction://hlinkfile"/>
                        </a:rPr>
                        <a:t> </a:t>
                      </a:r>
                      <a:r>
                        <a:rPr lang="en-US" sz="1600" dirty="0">
                          <a:effectLst/>
                          <a:hlinkClick r:id="rId5" tooltip="" action="ppaction://hlinkfile"/>
                        </a:rPr>
                        <a:t>https://drive.google.com/file/d/18YyiG87zAGGTDbISrZJb3xwDSg7v5wjf/view?usp=drive_link</a:t>
                      </a:r>
                      <a:endParaRPr lang="en-US"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r>
              <a:tr h="783590">
                <a:tc>
                  <a:txBody>
                    <a:bodyPr/>
                    <a:lstStyle/>
                    <a:p>
                      <a:pPr algn="l" rtl="0" fontAlgn="ctr">
                        <a:spcBef>
                          <a:spcPts val="0"/>
                        </a:spcBef>
                        <a:spcAft>
                          <a:spcPts val="0"/>
                        </a:spcAft>
                      </a:pPr>
                      <a:r>
                        <a:rPr lang="en-US" sz="1500" b="0" i="0" u="none" strike="noStrike" dirty="0">
                          <a:solidFill>
                            <a:srgbClr val="000000"/>
                          </a:solidFill>
                          <a:effectLst/>
                          <a:latin typeface="Calibri" panose="020F0502020204030204" pitchFamily="34" charset="0"/>
                        </a:rPr>
                        <a:t>      12</a:t>
                      </a:r>
                      <a:endParaRPr lang="en-US" sz="1200" dirty="0">
                        <a:effectLst/>
                      </a:endParaRPr>
                    </a:p>
                  </a:txBody>
                  <a:tcPr marL="52224" marR="52224" marT="26112" marB="26112" anchor="ctr">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rtl="0" fontAlgn="t">
                        <a:spcBef>
                          <a:spcPts val="0"/>
                        </a:spcBef>
                        <a:spcAft>
                          <a:spcPts val="0"/>
                        </a:spcAft>
                      </a:pPr>
                      <a:r>
                        <a:rPr lang="en-US" sz="2000" b="0" i="0" u="none" strike="noStrike">
                          <a:solidFill>
                            <a:srgbClr val="7030A0"/>
                          </a:solidFill>
                          <a:effectLst/>
                          <a:latin typeface="Calibri" panose="020F0502020204030204" pitchFamily="34" charset="0"/>
                        </a:rPr>
                        <a:t>Appendices</a:t>
                      </a:r>
                      <a:endParaRPr lang="en-US" sz="120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D0DEEF"/>
                    </a:solidFill>
                  </a:tcPr>
                </a:tc>
                <a:tc>
                  <a:txBody>
                    <a:bodyPr/>
                    <a:lstStyle/>
                    <a:p>
                      <a:pPr fontAlgn="t"/>
                      <a:r>
                        <a:rPr lang="en-US" sz="1200" dirty="0">
                          <a:effectLst/>
                          <a:hlinkClick r:id="rId6" tooltip="" action="ppaction://hlinkfile"/>
                        </a:rPr>
                        <a:t> </a:t>
                      </a:r>
                      <a:r>
                        <a:rPr lang="en-US" sz="1600" dirty="0">
                          <a:effectLst/>
                          <a:hlinkClick r:id="rId6" tooltip="" action="ppaction://hlinkfile"/>
                        </a:rPr>
                        <a:t>https://drive.google.com/file/d/1UDSAhdMYvpQBcpWTX_PhzeQMmn1I7We0/view?usp=drive_link</a:t>
                      </a:r>
                      <a:endParaRPr lang="en-US" sz="1600" dirty="0">
                        <a:effectLst/>
                      </a:endParaRPr>
                    </a:p>
                  </a:txBody>
                  <a:tcPr marL="52224" marR="52224" marT="26112" marB="26112">
                    <a:lnL w="8465" cap="flat" cmpd="sng" algn="ctr">
                      <a:solidFill>
                        <a:srgbClr val="000000"/>
                      </a:solidFill>
                      <a:prstDash val="solid"/>
                      <a:round/>
                      <a:headEnd type="none" w="med" len="med"/>
                      <a:tailEnd type="none" w="med" len="med"/>
                    </a:lnL>
                    <a:lnR w="8465" cap="flat" cmpd="sng" algn="ctr">
                      <a:solidFill>
                        <a:srgbClr val="000000"/>
                      </a:solidFill>
                      <a:prstDash val="solid"/>
                      <a:round/>
                      <a:headEnd type="none" w="med" len="med"/>
                      <a:tailEnd type="none" w="med" len="med"/>
                    </a:lnR>
                    <a:lnT w="8465" cap="flat" cmpd="sng" algn="ctr">
                      <a:solidFill>
                        <a:srgbClr val="000000"/>
                      </a:solidFill>
                      <a:prstDash val="solid"/>
                      <a:round/>
                      <a:headEnd type="none" w="med" len="med"/>
                      <a:tailEnd type="none" w="med" len="med"/>
                    </a:lnT>
                    <a:lnB w="8465" cap="flat" cmpd="sng" algn="ctr">
                      <a:solidFill>
                        <a:srgbClr val="000000"/>
                      </a:solidFill>
                      <a:prstDash val="solid"/>
                      <a:round/>
                      <a:headEnd type="none" w="med" len="med"/>
                      <a:tailEnd type="none" w="med" len="med"/>
                    </a:lnB>
                    <a:solidFill>
                      <a:srgbClr val="E9EFF7"/>
                    </a:solidFill>
                  </a:tcPr>
                </a:tc>
              </a:tr>
            </a:tbl>
          </a:graphicData>
        </a:graphic>
      </p:graphicFrame>
      <p:sp>
        <p:nvSpPr>
          <p:cNvPr id="10" name="Rectangle 3"/>
          <p:cNvSpPr>
            <a:spLocks noChangeArrowheads="1"/>
          </p:cNvSpPr>
          <p:nvPr/>
        </p:nvSpPr>
        <p:spPr bwMode="auto">
          <a:xfrm>
            <a:off x="-386081" y="1798638"/>
            <a:ext cx="211281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a:p>
        </p:txBody>
      </p:sp>
      <p:sp>
        <p:nvSpPr>
          <p:cNvPr id="12" name="Rectangle 11"/>
          <p:cNvSpPr/>
          <p:nvPr/>
        </p:nvSpPr>
        <p:spPr>
          <a:xfrm>
            <a:off x="1991360" y="153908"/>
            <a:ext cx="6096000" cy="830997"/>
          </a:xfrm>
          <a:prstGeom prst="rect">
            <a:avLst/>
          </a:prstGeom>
        </p:spPr>
        <p:txBody>
          <a:bodyPr>
            <a:spAutoFit/>
          </a:bodyPr>
          <a:lstStyle/>
          <a:p>
            <a:pPr algn="ctr"/>
            <a:r>
              <a:rPr lang="en-US" sz="2000" b="1" dirty="0">
                <a:solidFill>
                  <a:srgbClr val="0070C0"/>
                </a:solidFill>
                <a:latin typeface="Cambria" panose="02040503050406030204" pitchFamily="18" charset="0"/>
              </a:rPr>
              <a:t>Submission of Project Report</a:t>
            </a:r>
            <a:endParaRPr lang="en-US" sz="2000" dirty="0"/>
          </a:p>
          <a:p>
            <a:br>
              <a:rPr lang="en-US" dirty="0"/>
            </a:br>
            <a:endParaRPr lang="en-US" dirty="0"/>
          </a:p>
        </p:txBody>
      </p:sp>
      <p:sp>
        <p:nvSpPr>
          <p:cNvPr id="13" name="Rectangle 12"/>
          <p:cNvSpPr/>
          <p:nvPr/>
        </p:nvSpPr>
        <p:spPr>
          <a:xfrm>
            <a:off x="533401" y="557293"/>
            <a:ext cx="4681090" cy="461665"/>
          </a:xfrm>
          <a:prstGeom prst="rect">
            <a:avLst/>
          </a:prstGeom>
        </p:spPr>
        <p:txBody>
          <a:bodyPr wrap="none">
            <a:spAutoFit/>
          </a:bodyPr>
          <a:lstStyle/>
          <a:p>
            <a:r>
              <a:rPr lang="en-US" sz="2400" b="1" dirty="0">
                <a:solidFill>
                  <a:srgbClr val="385623"/>
                </a:solidFill>
                <a:latin typeface="Calibri" panose="020F0502020204030204" pitchFamily="34" charset="0"/>
              </a:rPr>
              <a:t>List of Documents to be Submitted </a:t>
            </a:r>
            <a:endParaRPr lang="en-US" sz="2400" dirty="0"/>
          </a:p>
        </p:txBody>
      </p:sp>
      <p:sp>
        <p:nvSpPr>
          <p:cNvPr id="14" name="Rectangle 13"/>
          <p:cNvSpPr/>
          <p:nvPr/>
        </p:nvSpPr>
        <p:spPr>
          <a:xfrm>
            <a:off x="533401" y="6451811"/>
            <a:ext cx="6096000" cy="338554"/>
          </a:xfrm>
          <a:prstGeom prst="rect">
            <a:avLst/>
          </a:prstGeom>
        </p:spPr>
        <p:txBody>
          <a:bodyPr>
            <a:spAutoFit/>
          </a:bodyPr>
          <a:lstStyle/>
          <a:p>
            <a:pPr lvl="0">
              <a:buSzPts val="1400"/>
            </a:pPr>
            <a:r>
              <a:rPr lang="en-US" sz="1600" b="1" dirty="0">
                <a:solidFill>
                  <a:srgbClr val="385623"/>
                </a:solidFill>
              </a:rPr>
              <a:t>11-04-2025</a:t>
            </a:r>
            <a:endParaRPr lang="en-US" sz="1600" b="1" dirty="0">
              <a:solidFill>
                <a:srgbClr val="385623"/>
              </a:solidFill>
            </a:endParaRPr>
          </a:p>
        </p:txBody>
      </p:sp>
      <p:sp>
        <p:nvSpPr>
          <p:cNvPr id="16" name="Rectangle 15"/>
          <p:cNvSpPr/>
          <p:nvPr/>
        </p:nvSpPr>
        <p:spPr>
          <a:xfrm>
            <a:off x="2340757" y="6323703"/>
            <a:ext cx="6096000" cy="954107"/>
          </a:xfrm>
          <a:prstGeom prst="rect">
            <a:avLst/>
          </a:prstGeom>
        </p:spPr>
        <p:txBody>
          <a:bodyPr>
            <a:spAutoFit/>
          </a:bodyPr>
          <a:lstStyle/>
          <a:p>
            <a:pPr algn="ctr"/>
            <a:br>
              <a:rPr lang="en-US" dirty="0"/>
            </a:br>
            <a:r>
              <a:rPr lang="en-US" b="1" dirty="0">
                <a:solidFill>
                  <a:srgbClr val="385623"/>
                </a:solidFill>
                <a:latin typeface="Calibri" panose="020F0502020204030204" pitchFamily="34" charset="0"/>
              </a:rPr>
              <a:t>SECOND REVIEW PRESENTATION</a:t>
            </a:r>
            <a:endParaRPr lang="en-US" dirty="0"/>
          </a:p>
          <a:p>
            <a:br>
              <a:rPr lang="en-US" dirty="0"/>
            </a:b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5"/>
          <p:cNvSpPr txBox="1">
            <a:spLocks noGrp="1"/>
          </p:cNvSpPr>
          <p:nvPr>
            <p:ph type="body" idx="1"/>
          </p:nvPr>
        </p:nvSpPr>
        <p:spPr>
          <a:xfrm>
            <a:off x="699796" y="969253"/>
            <a:ext cx="11006816" cy="509671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400"/>
              <a:buNone/>
            </a:pPr>
            <a:r>
              <a:rPr lang="en-US" sz="2400" dirty="0">
                <a:solidFill>
                  <a:srgbClr val="C00000"/>
                </a:solidFill>
              </a:rPr>
              <a:t>Journal</a:t>
            </a:r>
            <a:endParaRPr sz="2400" dirty="0">
              <a:solidFill>
                <a:srgbClr val="C00000"/>
              </a:solidFill>
            </a:endParaRPr>
          </a:p>
          <a:p>
            <a:pPr marL="0" lvl="0" indent="0" algn="l" rtl="0">
              <a:lnSpc>
                <a:spcPct val="90000"/>
              </a:lnSpc>
              <a:spcBef>
                <a:spcPts val="0"/>
              </a:spcBef>
              <a:spcAft>
                <a:spcPts val="0"/>
              </a:spcAft>
              <a:buClr>
                <a:srgbClr val="C00000"/>
              </a:buClr>
              <a:buSzPts val="2400"/>
              <a:buNone/>
            </a:pPr>
            <a:endParaRPr sz="1800" dirty="0"/>
          </a:p>
          <a:p>
            <a:pPr marL="0" lvl="0" indent="0" algn="just">
              <a:buNone/>
            </a:pPr>
            <a:r>
              <a:rPr lang="en-US" sz="1800" dirty="0"/>
              <a:t>[1]. S. Kumar, P. Gupta, and R. Sharma, "Design and Implementation of an Online Bus Ticket Reservation System Using Web Technologies," </a:t>
            </a:r>
            <a:r>
              <a:rPr lang="en-US" sz="1800" i="1" dirty="0"/>
              <a:t>International Journal of Computer Applications</a:t>
            </a:r>
            <a:r>
              <a:rPr lang="en-US" sz="1800" dirty="0"/>
              <a:t>, vol. 180, no. 30, pp. 45-50, March </a:t>
            </a:r>
            <a:r>
              <a:rPr lang="en-US" sz="2400" dirty="0">
                <a:solidFill>
                  <a:srgbClr val="C00000"/>
                </a:solidFill>
              </a:rPr>
              <a:t>Books </a:t>
            </a:r>
            <a:endParaRPr lang="en-US" sz="2400" dirty="0">
              <a:solidFill>
                <a:srgbClr val="C00000"/>
              </a:solidFill>
            </a:endParaRPr>
          </a:p>
          <a:p>
            <a:pPr marL="0" lvl="0" indent="0" eaLnBrk="0" fontAlgn="base" hangingPunct="0">
              <a:lnSpc>
                <a:spcPct val="100000"/>
              </a:lnSpc>
              <a:spcBef>
                <a:spcPct val="0"/>
              </a:spcBef>
              <a:spcAft>
                <a:spcPct val="0"/>
              </a:spcAft>
              <a:buClrTx/>
              <a:buSzTx/>
              <a:buNone/>
            </a:pPr>
            <a:r>
              <a:rPr lang="en-US" sz="1800" dirty="0"/>
              <a:t>[1]. M. A. Hossain, </a:t>
            </a:r>
            <a:r>
              <a:rPr lang="en-US" sz="1800" i="1" dirty="0"/>
              <a:t>Online Bus Ticket Booking System: Design, Development, and Implementation</a:t>
            </a:r>
            <a:r>
              <a:rPr lang="en-US" sz="1800" dirty="0"/>
              <a:t>, New Delhi, India: Pearson, 2018.</a:t>
            </a:r>
            <a:endParaRPr 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sz="1800" dirty="0"/>
              <a:t>[2]. J. R. Patel, </a:t>
            </a:r>
            <a:r>
              <a:rPr lang="en-US" sz="1800" i="1" dirty="0"/>
              <a:t>E-Ticketing System for Public Transport: A Comprehensive Guide</a:t>
            </a:r>
            <a:r>
              <a:rPr lang="en-US" sz="1800" dirty="0"/>
              <a:t>, Oxford, UK: Oxford University Press, 2017.</a:t>
            </a:r>
            <a:endParaRPr sz="1800" dirty="0"/>
          </a:p>
          <a:p>
            <a:pPr marL="0" lvl="0" indent="0" algn="l" rtl="0">
              <a:lnSpc>
                <a:spcPct val="90000"/>
              </a:lnSpc>
              <a:spcBef>
                <a:spcPts val="1000"/>
              </a:spcBef>
              <a:spcAft>
                <a:spcPts val="0"/>
              </a:spcAft>
              <a:buClr>
                <a:srgbClr val="C00000"/>
              </a:buClr>
              <a:buSzPts val="2400"/>
              <a:buNone/>
            </a:pPr>
            <a:r>
              <a:rPr lang="en-US" sz="2400" dirty="0">
                <a:solidFill>
                  <a:srgbClr val="C00000"/>
                </a:solidFill>
              </a:rPr>
              <a:t>Patent </a:t>
            </a:r>
            <a:endParaRPr sz="2400" dirty="0">
              <a:solidFill>
                <a:srgbClr val="C00000"/>
              </a:solidFill>
            </a:endParaRPr>
          </a:p>
          <a:p>
            <a:pPr marL="0" lvl="0" indent="0">
              <a:buClr>
                <a:srgbClr val="385623"/>
              </a:buClr>
              <a:buSzPts val="2400"/>
              <a:buNone/>
            </a:pPr>
            <a:r>
              <a:rPr lang="en-US" sz="1800" dirty="0"/>
              <a:t>[1]. J. Williams and A. Carter, "</a:t>
            </a:r>
            <a:r>
              <a:rPr lang="en-IN" altLang="en-US" sz="1800" dirty="0"/>
              <a:t>Bus Reservation System</a:t>
            </a:r>
            <a:r>
              <a:rPr lang="en-US" sz="1800" dirty="0"/>
              <a:t>," U.S. Patent US10284756B2, April 30, 2019.</a:t>
            </a:r>
            <a:endParaRPr lang="en-US" sz="1800" dirty="0"/>
          </a:p>
          <a:p>
            <a:pPr marL="0" lvl="0" indent="0">
              <a:buClr>
                <a:srgbClr val="385623"/>
              </a:buClr>
              <a:buSzPts val="2400"/>
              <a:buNone/>
            </a:pPr>
            <a:r>
              <a:rPr lang="en-US" sz="2400" dirty="0">
                <a:solidFill>
                  <a:srgbClr val="C00000"/>
                </a:solidFill>
              </a:rPr>
              <a:t>Website</a:t>
            </a:r>
            <a:endParaRPr lang="en-US" sz="2400" dirty="0">
              <a:solidFill>
                <a:srgbClr val="C00000"/>
              </a:solidFill>
            </a:endParaRPr>
          </a:p>
          <a:p>
            <a:pPr marL="0" lvl="0" indent="0">
              <a:buClr>
                <a:srgbClr val="C00000"/>
              </a:buClr>
              <a:buSzPts val="2400"/>
              <a:buNone/>
            </a:pPr>
            <a:r>
              <a:rPr lang="en-US" sz="1800" dirty="0"/>
              <a:t>[1]. </a:t>
            </a:r>
            <a:r>
              <a:rPr lang="en-US" sz="1800" dirty="0" err="1"/>
              <a:t>MakeMyTrip</a:t>
            </a:r>
            <a:r>
              <a:rPr lang="en-US" sz="1800" dirty="0"/>
              <a:t>, "Online Bus Ticket Booking: Compare, Book &amp; Save," makemytrip.com. </a:t>
            </a:r>
            <a:r>
              <a:rPr lang="en-US" sz="1800" dirty="0">
                <a:hlinkClick r:id="rId1" action="ppaction://hlinkfile"/>
              </a:rPr>
              <a:t>https://www.makemytrip.com/bus-tickets/</a:t>
            </a:r>
            <a:endParaRPr sz="1800" dirty="0"/>
          </a:p>
        </p:txBody>
      </p:sp>
      <p:sp>
        <p:nvSpPr>
          <p:cNvPr id="261" name="Google Shape;26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sz="1800" b="1" dirty="0">
                <a:solidFill>
                  <a:srgbClr val="385623"/>
                </a:solidFill>
              </a:rPr>
              <a:t>11-04-2025</a:t>
            </a:r>
            <a:endParaRPr lang="en-US" sz="1800" b="1" dirty="0">
              <a:solidFill>
                <a:srgbClr val="385623"/>
              </a:solidFill>
            </a:endParaRPr>
          </a:p>
        </p:txBody>
      </p:sp>
      <p:sp>
        <p:nvSpPr>
          <p:cNvPr id="262" name="Google Shape;26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SECOND REVIEW PRESENTATION</a:t>
            </a:r>
            <a:endParaRPr dirty="0"/>
          </a:p>
        </p:txBody>
      </p:sp>
      <p:sp>
        <p:nvSpPr>
          <p:cNvPr id="263" name="Google Shape;26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
        <p:nvSpPr>
          <p:cNvPr id="264" name="Google Shape;264;p2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panose="02040503050406030204"/>
              <a:buNone/>
            </a:pPr>
            <a:r>
              <a:rPr lang="en-US" sz="2400" b="1" dirty="0">
                <a:solidFill>
                  <a:srgbClr val="0070C0"/>
                </a:solidFill>
                <a:latin typeface="Cambria" panose="02040503050406030204"/>
                <a:ea typeface="Cambria" panose="02040503050406030204"/>
                <a:cs typeface="Cambria" panose="02040503050406030204"/>
                <a:sym typeface="Cambria" panose="02040503050406030204"/>
              </a:rPr>
              <a:t>REFERENCES</a:t>
            </a:r>
            <a:br>
              <a:rPr lang="en-US" sz="2400" b="1" dirty="0">
                <a:solidFill>
                  <a:srgbClr val="0070C0"/>
                </a:solidFill>
                <a:latin typeface="Cambria" panose="02040503050406030204"/>
                <a:ea typeface="Cambria" panose="02040503050406030204"/>
                <a:cs typeface="Cambria" panose="02040503050406030204"/>
                <a:sym typeface="Cambria" panose="02040503050406030204"/>
              </a:rPr>
            </a:br>
            <a:r>
              <a:rPr lang="en-US" sz="1800" b="1" dirty="0">
                <a:solidFill>
                  <a:srgbClr val="00B050"/>
                </a:solidFill>
                <a:latin typeface="Cambria" panose="02040503050406030204"/>
                <a:ea typeface="Cambria" panose="02040503050406030204"/>
                <a:cs typeface="Cambria" panose="02040503050406030204"/>
                <a:sym typeface="Cambria" panose="02040503050406030204"/>
              </a:rPr>
              <a:t>( Journal Papers/ Books / Website in IEEE Format )</a:t>
            </a:r>
            <a:endParaRPr sz="1800" b="1" dirty="0">
              <a:solidFill>
                <a:srgbClr val="00B050"/>
              </a:solidFill>
              <a:latin typeface="Cambria" panose="02040503050406030204"/>
              <a:ea typeface="Cambria" panose="02040503050406030204"/>
              <a:cs typeface="Cambria" panose="02040503050406030204"/>
              <a:sym typeface="Cambria" panose="02040503050406030204"/>
            </a:endParaRPr>
          </a:p>
        </p:txBody>
      </p:sp>
      <p:sp>
        <p:nvSpPr>
          <p:cNvPr id="19" name="Rectangle 18"/>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2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TABLE_ENDDRAG_ORIGIN_RECT" val="800*402"/>
  <p:tag name="TABLE_ENDDRAG_RECT" val="70*65*800*402"/>
</p:tagLst>
</file>

<file path=ppt/tags/tag2.xml><?xml version="1.0" encoding="utf-8"?>
<p:tagLst xmlns:p="http://schemas.openxmlformats.org/presentationml/2006/main">
  <p:tag name="TABLE_ENDDRAG_ORIGIN_RECT" val="835*424"/>
  <p:tag name="TABLE_ENDDRAG_RECT" val="42*81*835*42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12463</Words>
  <Application>WPS Slides</Application>
  <PresentationFormat>Widescreen</PresentationFormat>
  <Paragraphs>411</Paragraphs>
  <Slides>16</Slides>
  <Notes>15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Calibri</vt:lpstr>
      <vt:lpstr>Cambria</vt:lpstr>
      <vt:lpstr>Cambria</vt:lpstr>
      <vt:lpstr>Calibri</vt:lpstr>
      <vt:lpstr>Microsoft YaHei</vt:lpstr>
      <vt:lpstr>Arial Unicode MS</vt:lpstr>
      <vt:lpstr>Office Theme</vt:lpstr>
      <vt:lpstr>Academic Year 2024 - 25  S6 MINI PROJECT - II Second Review </vt:lpstr>
      <vt:lpstr>AIM &amp; OBJECTIVES OF THE PROJECT  (Problem Statement)</vt:lpstr>
      <vt:lpstr>LITERATURE SURVEY </vt:lpstr>
      <vt:lpstr>LITERATURE SURVEY </vt:lpstr>
      <vt:lpstr>SCOPE OF THE PROJECT</vt:lpstr>
      <vt:lpstr>NEED FOR THE CURRENT STUDY </vt:lpstr>
      <vt:lpstr>PROPOSED METHODOLOGY ( Flow Chart) </vt:lpstr>
      <vt:lpstr>PROPOSED METHODOLOGY ( Gantt Chart) </vt:lpstr>
      <vt:lpstr>CHOICE  OF  COMPONENTS  /  MODULES  / METHODS/TECHNIQUES  EQUIPMENT  USED FOR  PROJECT DEVELOPMENT </vt:lpstr>
      <vt:lpstr>DESIGN(S) (HARDWARE / SOFTWARE ARCHITECTURE) </vt:lpstr>
      <vt:lpstr>INDIVIDUAL CONTRIBUTIONS TO THE WORK </vt:lpstr>
      <vt:lpstr>INDIVIDUAL CONTRIBUTIONS TO THE WORK </vt:lpstr>
      <vt:lpstr>INDIVIDUAL CONTRIBUTIONS TO THE WORK </vt:lpstr>
      <vt:lpstr>Status on Partial Completion and Submission of Project Report</vt:lpstr>
      <vt:lpstr>PowerPoint 演示文稿</vt:lpstr>
      <vt:lpstr>REFERENCES ( Journal Papers/ Books / Website in IEEE Format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Year 2024 - 25  S5 MINI PROJECT - I First Review</dc:title>
  <dc:creator>TRC</dc:creator>
  <cp:lastModifiedBy>rsury</cp:lastModifiedBy>
  <cp:revision>46</cp:revision>
  <cp:lastPrinted>2024-09-22T17:01:00Z</cp:lastPrinted>
  <dcterms:created xsi:type="dcterms:W3CDTF">2023-07-14T12:21:00Z</dcterms:created>
  <dcterms:modified xsi:type="dcterms:W3CDTF">2025-04-11T02:21:17Z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44A4973CD1C046EDA24EA403DC0F8AB6_12</vt:lpwstr>
  </property>
  <property fmtid="{D5CDD505-2E9C-101B-9397-08002B2CF9AE}" pid="3" name="KSOProductBuildVer">
    <vt:lpwstr>2057-12.2.0.20755</vt:lpwstr>
  </property>
</Properties>
</file>